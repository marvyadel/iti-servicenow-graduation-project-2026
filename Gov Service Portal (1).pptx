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5" r:id="rId4"/>
    <p:sldId id="277" r:id="rId5"/>
    <p:sldId id="258" r:id="rId6"/>
    <p:sldId id="259" r:id="rId7"/>
    <p:sldId id="260" r:id="rId8"/>
    <p:sldId id="261" r:id="rId9"/>
    <p:sldId id="268" r:id="rId10"/>
    <p:sldId id="269" r:id="rId11"/>
    <p:sldId id="270" r:id="rId12"/>
    <p:sldId id="273" r:id="rId13"/>
    <p:sldId id="271" r:id="rId14"/>
    <p:sldId id="262" r:id="rId15"/>
    <p:sldId id="272" r:id="rId16"/>
    <p:sldId id="263" r:id="rId17"/>
    <p:sldId id="264" r:id="rId18"/>
    <p:sldId id="274" r:id="rId19"/>
    <p:sldId id="265" r:id="rId20"/>
    <p:sldId id="276" r:id="rId21"/>
    <p:sldId id="278" r:id="rId2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C3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8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grpSp>
        <p:nvGrpSpPr>
          <p:cNvPr id="2" name="Google Shape;9;p2"/>
          <p:cNvGrpSpPr/>
          <p:nvPr/>
        </p:nvGrpSpPr>
        <p:grpSpPr>
          <a:xfrm>
            <a:off x="306000" y="234000"/>
            <a:ext cx="8531280" cy="4674960"/>
            <a:chOff x="306000" y="234000"/>
            <a:chExt cx="8531280" cy="4674960"/>
          </a:xfrm>
        </p:grpSpPr>
        <p:sp>
          <p:nvSpPr>
            <p:cNvPr id="3" name="Google Shape;10;p2"/>
            <p:cNvSpPr/>
            <p:nvPr/>
          </p:nvSpPr>
          <p:spPr>
            <a:xfrm>
              <a:off x="306000" y="234360"/>
              <a:ext cx="8531280" cy="4674600"/>
            </a:xfrm>
            <a:prstGeom prst="rect">
              <a:avLst/>
            </a:prstGeom>
            <a:noFill/>
            <a:ln w="19050">
              <a:solidFill>
                <a:srgbClr val="2A5F9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4" name="Google Shape;11;p2"/>
            <p:cNvCxnSpPr/>
            <p:nvPr/>
          </p:nvCxnSpPr>
          <p:spPr>
            <a:xfrm>
              <a:off x="518400" y="234000"/>
              <a:ext cx="360" cy="4675320"/>
            </a:xfrm>
            <a:prstGeom prst="straightConnector1">
              <a:avLst/>
            </a:prstGeom>
            <a:ln w="19050">
              <a:solidFill>
                <a:srgbClr val="2A5F9E"/>
              </a:solidFill>
              <a:round/>
            </a:ln>
          </p:spPr>
        </p:cxnSp>
        <p:cxnSp>
          <p:nvCxnSpPr>
            <p:cNvPr id="5" name="Google Shape;12;p2"/>
            <p:cNvCxnSpPr/>
            <p:nvPr/>
          </p:nvCxnSpPr>
          <p:spPr>
            <a:xfrm>
              <a:off x="8625240" y="234000"/>
              <a:ext cx="360" cy="4675320"/>
            </a:xfrm>
            <a:prstGeom prst="straightConnector1">
              <a:avLst/>
            </a:prstGeom>
            <a:ln w="19050">
              <a:solidFill>
                <a:srgbClr val="2A5F9E"/>
              </a:solidFill>
              <a:round/>
            </a:ln>
          </p:spPr>
        </p:cxnSp>
      </p:grpSp>
      <p:pic>
        <p:nvPicPr>
          <p:cNvPr id="6" name="Google Shape;13;p2"/>
          <p:cNvPicPr/>
          <p:nvPr/>
        </p:nvPicPr>
        <p:blipFill>
          <a:blip r:embed="rId2">
            <a:alphaModFix amt="4000"/>
          </a:blip>
          <a:stretch/>
        </p:blipFill>
        <p:spPr>
          <a:xfrm>
            <a:off x="0" y="0"/>
            <a:ext cx="9143640" cy="5143320"/>
          </a:xfrm>
          <a:prstGeom prst="rect">
            <a:avLst/>
          </a:prstGeom>
          <a:noFill/>
          <a:ln w="0">
            <a:noFill/>
          </a:ln>
        </p:spPr>
      </p:pic>
      <p:sp>
        <p:nvSpPr>
          <p:cNvPr id="7" name="PlaceHolder 1"/>
          <p:cNvSpPr>
            <a:spLocks noGrp="1"/>
          </p:cNvSpPr>
          <p:nvPr>
            <p:ph type="title"/>
          </p:nvPr>
        </p:nvSpPr>
        <p:spPr>
          <a:xfrm>
            <a:off x="714960" y="741240"/>
            <a:ext cx="7713720" cy="1175760"/>
          </a:xfrm>
          <a:prstGeom prst="rect">
            <a:avLst/>
          </a:prstGeom>
          <a:noFill/>
          <a:ln w="0">
            <a:noFill/>
          </a:ln>
        </p:spPr>
        <p:txBody>
          <a:bodyPr lIns="91440" tIns="91440" rIns="91440" bIns="91440" anchor="b">
            <a:noAutofit/>
          </a:bodyPr>
          <a:lstStyle/>
          <a:p>
            <a:pPr indent="0">
              <a:buNone/>
            </a:pPr>
            <a:r>
              <a:rPr lang="fr-FR" sz="7200" b="0" u="none" strike="noStrike">
                <a:solidFill>
                  <a:schemeClr val="dk1"/>
                </a:solidFill>
                <a:effectLst/>
                <a:uFillTx/>
                <a:latin typeface="Arial"/>
              </a:rPr>
              <a:t>Click to edit the title text format</a:t>
            </a:r>
          </a:p>
        </p:txBody>
      </p:sp>
      <p:pic>
        <p:nvPicPr>
          <p:cNvPr id="8" name="Google Shape;16;p2"/>
          <p:cNvPicPr/>
          <p:nvPr/>
        </p:nvPicPr>
        <p:blipFill>
          <a:blip r:embed="rId3"/>
          <a:stretch/>
        </p:blipFill>
        <p:spPr>
          <a:xfrm rot="885600">
            <a:off x="6371640" y="3410640"/>
            <a:ext cx="1024560" cy="720720"/>
          </a:xfrm>
          <a:prstGeom prst="rect">
            <a:avLst/>
          </a:prstGeom>
          <a:noFill/>
          <a:ln w="0">
            <a:noFill/>
          </a:ln>
        </p:spPr>
      </p:pic>
      <p:pic>
        <p:nvPicPr>
          <p:cNvPr id="9" name="Google Shape;17;p2"/>
          <p:cNvPicPr/>
          <p:nvPr/>
        </p:nvPicPr>
        <p:blipFill>
          <a:blip r:embed="rId4"/>
          <a:stretch/>
        </p:blipFill>
        <p:spPr>
          <a:xfrm flipH="1">
            <a:off x="6044040" y="3893760"/>
            <a:ext cx="1287360" cy="953280"/>
          </a:xfrm>
          <a:prstGeom prst="rect">
            <a:avLst/>
          </a:prstGeom>
          <a:noFill/>
          <a:ln w="0">
            <a:noFill/>
          </a:ln>
        </p:spPr>
      </p:pic>
      <p:pic>
        <p:nvPicPr>
          <p:cNvPr id="10" name="Google Shape;18;p2"/>
          <p:cNvPicPr/>
          <p:nvPr/>
        </p:nvPicPr>
        <p:blipFill>
          <a:blip r:embed="rId5"/>
          <a:stretch/>
        </p:blipFill>
        <p:spPr>
          <a:xfrm rot="297600" flipH="1">
            <a:off x="3723120" y="3007800"/>
            <a:ext cx="614520" cy="795600"/>
          </a:xfrm>
          <a:prstGeom prst="rect">
            <a:avLst/>
          </a:prstGeom>
          <a:noFill/>
          <a:ln w="0">
            <a:noFill/>
          </a:ln>
        </p:spPr>
      </p:pic>
      <p:pic>
        <p:nvPicPr>
          <p:cNvPr id="11" name="Google Shape;19;p2"/>
          <p:cNvPicPr/>
          <p:nvPr/>
        </p:nvPicPr>
        <p:blipFill>
          <a:blip r:embed="rId6"/>
          <a:stretch/>
        </p:blipFill>
        <p:spPr>
          <a:xfrm>
            <a:off x="1594440" y="3828960"/>
            <a:ext cx="1865520" cy="896760"/>
          </a:xfrm>
          <a:prstGeom prst="rect">
            <a:avLst/>
          </a:prstGeom>
          <a:noFill/>
          <a:ln w="0">
            <a:noFill/>
          </a:ln>
        </p:spPr>
      </p:pic>
      <p:pic>
        <p:nvPicPr>
          <p:cNvPr id="12" name="Google Shape;20;p2"/>
          <p:cNvPicPr/>
          <p:nvPr/>
        </p:nvPicPr>
        <p:blipFill>
          <a:blip r:embed="rId7"/>
          <a:stretch/>
        </p:blipFill>
        <p:spPr>
          <a:xfrm>
            <a:off x="2440440" y="3413520"/>
            <a:ext cx="1728360" cy="1514520"/>
          </a:xfrm>
          <a:prstGeom prst="rect">
            <a:avLst/>
          </a:prstGeom>
          <a:noFill/>
          <a:ln w="0">
            <a:noFill/>
          </a:ln>
        </p:spPr>
      </p:pic>
      <p:pic>
        <p:nvPicPr>
          <p:cNvPr id="13" name="Google Shape;21;p2"/>
          <p:cNvPicPr/>
          <p:nvPr/>
        </p:nvPicPr>
        <p:blipFill>
          <a:blip r:embed="rId8"/>
          <a:stretch/>
        </p:blipFill>
        <p:spPr>
          <a:xfrm>
            <a:off x="4169520" y="2810520"/>
            <a:ext cx="2443320" cy="2221920"/>
          </a:xfrm>
          <a:prstGeom prst="rect">
            <a:avLst/>
          </a:prstGeom>
          <a:noFill/>
          <a:ln w="0">
            <a:noFill/>
          </a:ln>
        </p:spPr>
      </p:pic>
      <p:sp>
        <p:nvSpPr>
          <p:cNvPr id="14"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_1_1_1_1_1_1_2">
    <p:bg>
      <p:bgPr>
        <a:solidFill>
          <a:schemeClr val="lt1"/>
        </a:solidFill>
        <a:effectLst/>
      </p:bgPr>
    </p:bg>
    <p:spTree>
      <p:nvGrpSpPr>
        <p:cNvPr id="1" name=""/>
        <p:cNvGrpSpPr/>
        <p:nvPr/>
      </p:nvGrpSpPr>
      <p:grpSpPr>
        <a:xfrm>
          <a:off x="0" y="0"/>
          <a:ext cx="0" cy="0"/>
          <a:chOff x="0" y="0"/>
          <a:chExt cx="0" cy="0"/>
        </a:xfrm>
      </p:grpSpPr>
      <p:grpSp>
        <p:nvGrpSpPr>
          <p:cNvPr id="15" name="Google Shape;228;p24"/>
          <p:cNvGrpSpPr/>
          <p:nvPr/>
        </p:nvGrpSpPr>
        <p:grpSpPr>
          <a:xfrm>
            <a:off x="306000" y="234000"/>
            <a:ext cx="8531280" cy="4674960"/>
            <a:chOff x="306000" y="234000"/>
            <a:chExt cx="8531280" cy="4674960"/>
          </a:xfrm>
        </p:grpSpPr>
        <p:sp>
          <p:nvSpPr>
            <p:cNvPr id="16" name="Google Shape;229;p24"/>
            <p:cNvSpPr/>
            <p:nvPr/>
          </p:nvSpPr>
          <p:spPr>
            <a:xfrm>
              <a:off x="306000" y="234360"/>
              <a:ext cx="8531280" cy="4674600"/>
            </a:xfrm>
            <a:prstGeom prst="rect">
              <a:avLst/>
            </a:prstGeom>
            <a:noFill/>
            <a:ln w="19050">
              <a:solidFill>
                <a:srgbClr val="2A5F9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7" name="Google Shape;230;p24"/>
            <p:cNvCxnSpPr/>
            <p:nvPr/>
          </p:nvCxnSpPr>
          <p:spPr>
            <a:xfrm>
              <a:off x="518400" y="234000"/>
              <a:ext cx="360" cy="4675320"/>
            </a:xfrm>
            <a:prstGeom prst="straightConnector1">
              <a:avLst/>
            </a:prstGeom>
            <a:ln w="19050">
              <a:solidFill>
                <a:srgbClr val="2A5F9E"/>
              </a:solidFill>
              <a:round/>
            </a:ln>
          </p:spPr>
        </p:cxnSp>
        <p:cxnSp>
          <p:nvCxnSpPr>
            <p:cNvPr id="18" name="Google Shape;231;p24"/>
            <p:cNvCxnSpPr/>
            <p:nvPr/>
          </p:nvCxnSpPr>
          <p:spPr>
            <a:xfrm>
              <a:off x="8625240" y="234000"/>
              <a:ext cx="360" cy="4675320"/>
            </a:xfrm>
            <a:prstGeom prst="straightConnector1">
              <a:avLst/>
            </a:prstGeom>
            <a:ln w="19050">
              <a:solidFill>
                <a:srgbClr val="2A5F9E"/>
              </a:solidFill>
              <a:round/>
            </a:ln>
          </p:spPr>
        </p:cxnSp>
      </p:grpSp>
      <p:pic>
        <p:nvPicPr>
          <p:cNvPr id="19" name="Google Shape;232;p24"/>
          <p:cNvPicPr/>
          <p:nvPr/>
        </p:nvPicPr>
        <p:blipFill>
          <a:blip r:embed="rId2">
            <a:alphaModFix amt="4000"/>
          </a:blip>
          <a:stretch/>
        </p:blipFill>
        <p:spPr>
          <a:xfrm>
            <a:off x="0" y="0"/>
            <a:ext cx="9143640" cy="5143320"/>
          </a:xfrm>
          <a:prstGeom prst="rect">
            <a:avLst/>
          </a:prstGeom>
          <a:noFill/>
          <a:ln w="0">
            <a:noFill/>
          </a:ln>
        </p:spPr>
      </p:pic>
      <p:sp>
        <p:nvSpPr>
          <p:cNvPr id="20" name="PlaceHolder 1"/>
          <p:cNvSpPr>
            <a:spLocks noGrp="1"/>
          </p:cNvSpPr>
          <p:nvPr>
            <p:ph type="title"/>
          </p:nvPr>
        </p:nvSpPr>
        <p:spPr>
          <a:xfrm>
            <a:off x="2102400" y="534960"/>
            <a:ext cx="4938840" cy="1055880"/>
          </a:xfrm>
          <a:prstGeom prst="rect">
            <a:avLst/>
          </a:prstGeom>
          <a:noFill/>
          <a:ln w="0">
            <a:noFill/>
          </a:ln>
        </p:spPr>
        <p:txBody>
          <a:bodyPr lIns="91440" tIns="91440" rIns="91440" bIns="91440" anchor="b">
            <a:noAutofit/>
          </a:bodyPr>
          <a:lstStyle/>
          <a:p>
            <a:pPr indent="0">
              <a:buNone/>
            </a:pPr>
            <a:r>
              <a:rPr lang="fr-FR" sz="6000" b="0" u="none" strike="noStrike">
                <a:solidFill>
                  <a:schemeClr val="dk1"/>
                </a:solidFill>
                <a:effectLst/>
                <a:uFillTx/>
                <a:latin typeface="Arial"/>
              </a:rPr>
              <a:t>Click to edit the title text format</a:t>
            </a:r>
          </a:p>
        </p:txBody>
      </p:sp>
      <p:sp>
        <p:nvSpPr>
          <p:cNvPr id="21" name="Google Shape;235;p24"/>
          <p:cNvSpPr/>
          <p:nvPr/>
        </p:nvSpPr>
        <p:spPr>
          <a:xfrm>
            <a:off x="2102400" y="3736440"/>
            <a:ext cx="4938840" cy="519840"/>
          </a:xfrm>
          <a:prstGeom prst="rect">
            <a:avLst/>
          </a:prstGeom>
          <a:noFill/>
          <a:ln w="0">
            <a:noFill/>
          </a:ln>
        </p:spPr>
        <p:style>
          <a:lnRef idx="0">
            <a:scrgbClr r="0" g="0" b="0"/>
          </a:lnRef>
          <a:fillRef idx="0">
            <a:scrgbClr r="0" g="0" b="0"/>
          </a:fillRef>
          <a:effectRef idx="0">
            <a:scrgbClr r="0" g="0" b="0"/>
          </a:effectRef>
          <a:fontRef idx="minor"/>
        </p:style>
        <p:txBody>
          <a:bodyPr tIns="91440" bIns="91440" anchor="b">
            <a:noAutofit/>
          </a:bodyPr>
          <a:lstStyle/>
          <a:p>
            <a:pPr algn="ctr" defTabSz="914400">
              <a:lnSpc>
                <a:spcPct val="100000"/>
              </a:lnSpc>
              <a:spcBef>
                <a:spcPts val="300"/>
              </a:spcBef>
              <a:tabLst>
                <a:tab pos="0" algn="l"/>
              </a:tabLst>
            </a:pPr>
            <a:r>
              <a:rPr lang="en" sz="1000" b="0" u="none" strike="noStrike">
                <a:solidFill>
                  <a:schemeClr val="dk1"/>
                </a:solidFill>
                <a:effectLst/>
                <a:uFillTx/>
                <a:latin typeface="Montserrat Medium"/>
                <a:ea typeface="Montserrat Medium"/>
              </a:rPr>
              <a:t>CREDITS: This presentation template was created by </a:t>
            </a:r>
            <a:r>
              <a:rPr lang="en" sz="1000" b="1" u="sng" strike="noStrike">
                <a:solidFill>
                  <a:schemeClr val="lt2"/>
                </a:solidFill>
                <a:effectLst/>
                <a:uFillTx/>
                <a:latin typeface="Montserrat"/>
                <a:ea typeface="Montserrat"/>
                <a:hlinkClick r:id="rId3"/>
              </a:rPr>
              <a:t>Slidesgo</a:t>
            </a:r>
            <a:r>
              <a:rPr lang="en" sz="1000" b="0" u="none" strike="noStrike">
                <a:solidFill>
                  <a:schemeClr val="dk1"/>
                </a:solidFill>
                <a:effectLst/>
                <a:uFillTx/>
                <a:latin typeface="Montserrat"/>
                <a:ea typeface="Montserrat"/>
              </a:rPr>
              <a:t>, </a:t>
            </a:r>
            <a:r>
              <a:rPr lang="en" sz="1000" b="0" u="none" strike="noStrike">
                <a:solidFill>
                  <a:schemeClr val="dk1"/>
                </a:solidFill>
                <a:effectLst/>
                <a:uFillTx/>
                <a:latin typeface="Montserrat Medium"/>
                <a:ea typeface="Montserrat Medium"/>
              </a:rPr>
              <a:t>and includes icons by</a:t>
            </a:r>
            <a:r>
              <a:rPr lang="en" sz="1000" b="0" u="none" strike="noStrike">
                <a:solidFill>
                  <a:schemeClr val="dk1"/>
                </a:solidFill>
                <a:effectLst/>
                <a:uFillTx/>
                <a:latin typeface="Montserrat"/>
                <a:ea typeface="Montserrat"/>
              </a:rPr>
              <a:t> </a:t>
            </a:r>
            <a:r>
              <a:rPr lang="en" sz="1000" b="1" u="sng" strike="noStrike">
                <a:solidFill>
                  <a:schemeClr val="lt2"/>
                </a:solidFill>
                <a:effectLst/>
                <a:uFillTx/>
                <a:latin typeface="Montserrat"/>
                <a:ea typeface="Montserrat"/>
                <a:hlinkClick r:id="rId4"/>
              </a:rPr>
              <a:t>Flaticon</a:t>
            </a:r>
            <a:r>
              <a:rPr lang="en" sz="1000" b="0" u="none" strike="noStrike">
                <a:solidFill>
                  <a:schemeClr val="dk1"/>
                </a:solidFill>
                <a:effectLst/>
                <a:uFillTx/>
                <a:latin typeface="Montserrat"/>
                <a:ea typeface="Montserrat"/>
              </a:rPr>
              <a:t>, </a:t>
            </a:r>
            <a:r>
              <a:rPr lang="en" sz="1000" b="0" u="none" strike="noStrike">
                <a:solidFill>
                  <a:schemeClr val="dk1"/>
                </a:solidFill>
                <a:effectLst/>
                <a:uFillTx/>
                <a:latin typeface="Montserrat Medium"/>
                <a:ea typeface="Montserrat Medium"/>
              </a:rPr>
              <a:t>and infographics &amp; images by </a:t>
            </a:r>
            <a:r>
              <a:rPr lang="en" sz="1000" b="1" u="sng" strike="noStrike">
                <a:solidFill>
                  <a:schemeClr val="lt2"/>
                </a:solidFill>
                <a:effectLst/>
                <a:uFillTx/>
                <a:latin typeface="Montserrat"/>
                <a:ea typeface="Montserrat"/>
                <a:hlinkClick r:id="rId5"/>
              </a:rPr>
              <a:t>Freepik</a:t>
            </a:r>
            <a:endParaRPr lang="en-US" sz="1000" b="0" u="none" strike="noStrike">
              <a:solidFill>
                <a:srgbClr val="000000"/>
              </a:solidFill>
              <a:effectLst/>
              <a:uFillTx/>
              <a:latin typeface="OpenSymbo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grpSp>
        <p:nvGrpSpPr>
          <p:cNvPr id="22" name="Google Shape;35;p4"/>
          <p:cNvGrpSpPr/>
          <p:nvPr/>
        </p:nvGrpSpPr>
        <p:grpSpPr>
          <a:xfrm>
            <a:off x="306000" y="234000"/>
            <a:ext cx="8531280" cy="4674960"/>
            <a:chOff x="306000" y="234000"/>
            <a:chExt cx="8531280" cy="4674960"/>
          </a:xfrm>
        </p:grpSpPr>
        <p:sp>
          <p:nvSpPr>
            <p:cNvPr id="23" name="Google Shape;36;p4"/>
            <p:cNvSpPr/>
            <p:nvPr/>
          </p:nvSpPr>
          <p:spPr>
            <a:xfrm>
              <a:off x="306000" y="234360"/>
              <a:ext cx="8531280" cy="4674600"/>
            </a:xfrm>
            <a:prstGeom prst="rect">
              <a:avLst/>
            </a:prstGeom>
            <a:noFill/>
            <a:ln w="19050">
              <a:solidFill>
                <a:srgbClr val="2A5F9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24" name="Google Shape;37;p4"/>
            <p:cNvCxnSpPr/>
            <p:nvPr/>
          </p:nvCxnSpPr>
          <p:spPr>
            <a:xfrm>
              <a:off x="518400" y="234000"/>
              <a:ext cx="360" cy="4675320"/>
            </a:xfrm>
            <a:prstGeom prst="straightConnector1">
              <a:avLst/>
            </a:prstGeom>
            <a:ln w="19050">
              <a:solidFill>
                <a:srgbClr val="2A5F9E"/>
              </a:solidFill>
              <a:round/>
            </a:ln>
          </p:spPr>
        </p:cxnSp>
        <p:cxnSp>
          <p:nvCxnSpPr>
            <p:cNvPr id="25" name="Google Shape;38;p4"/>
            <p:cNvCxnSpPr/>
            <p:nvPr/>
          </p:nvCxnSpPr>
          <p:spPr>
            <a:xfrm>
              <a:off x="8625240" y="234000"/>
              <a:ext cx="360" cy="4675320"/>
            </a:xfrm>
            <a:prstGeom prst="straightConnector1">
              <a:avLst/>
            </a:prstGeom>
            <a:ln w="19050">
              <a:solidFill>
                <a:srgbClr val="2A5F9E"/>
              </a:solidFill>
              <a:round/>
            </a:ln>
          </p:spPr>
        </p:cxnSp>
      </p:grpSp>
      <p:pic>
        <p:nvPicPr>
          <p:cNvPr id="26" name="Google Shape;39;p4"/>
          <p:cNvPicPr/>
          <p:nvPr/>
        </p:nvPicPr>
        <p:blipFill>
          <a:blip r:embed="rId2">
            <a:alphaModFix amt="4000"/>
          </a:blip>
          <a:stretch/>
        </p:blipFill>
        <p:spPr>
          <a:xfrm>
            <a:off x="0" y="0"/>
            <a:ext cx="9143640" cy="5143320"/>
          </a:xfrm>
          <a:prstGeom prst="rect">
            <a:avLst/>
          </a:prstGeom>
          <a:noFill/>
          <a:ln w="0">
            <a:noFill/>
          </a:ln>
        </p:spPr>
      </p:pic>
      <p:sp>
        <p:nvSpPr>
          <p:cNvPr id="2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28" name="PlaceHolder 2"/>
          <p:cNvSpPr>
            <a:spLocks noGrp="1"/>
          </p:cNvSpPr>
          <p:nvPr>
            <p:ph type="body"/>
          </p:nvPr>
        </p:nvSpPr>
        <p:spPr>
          <a:xfrm>
            <a:off x="720000" y="1000080"/>
            <a:ext cx="7703640" cy="3762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dev224807.service-now.com/sys_user_role.do?sys_id=eb369369c381cb50f0a531cc050131cc&amp;sysparm_record_target=sys_user_role&amp;sysparm_record_row=6&amp;sysparm_record_rows=602&amp;sysparm_record_list=ORDERBYDESCsys_updated_on" TargetMode="External"/><Relationship Id="rId7" Type="http://schemas.openxmlformats.org/officeDocument/2006/relationships/hyperlink" Target="https://dev224807.service-now.com/sys_user_role.do?sys_id=c4bdbb7ac3814790f0a531cc05013141&amp;sysparm_record_target=sys_user_role&amp;sysparm_record_row=3&amp;sysparm_record_rows=602&amp;sysparm_record_list=ORDERBYDESCsys_updated_on" TargetMode="External"/><Relationship Id="rId2" Type="http://schemas.openxmlformats.org/officeDocument/2006/relationships/hyperlink" Target="https://dev224807.service-now.com/sys_user_role.do?sys_id=af369369c381cb50f0a531cc0501319b&amp;sysparm_record_target=sys_user_role&amp;sysparm_record_row=4&amp;sysparm_record_rows=602&amp;sysparm_record_list=ORDERBYDESCsys_updated_on" TargetMode="External"/><Relationship Id="rId1" Type="http://schemas.openxmlformats.org/officeDocument/2006/relationships/slideLayout" Target="../slideLayouts/slideLayout3.xml"/><Relationship Id="rId6" Type="http://schemas.openxmlformats.org/officeDocument/2006/relationships/hyperlink" Target="https://dev224807.service-now.com/sys_user_group.do?sys_id=6d2e7bbac3814790f0a531cc05013135&amp;sysparm_record_target=sys_user_group&amp;sysparm_record_row=1&amp;sysparm_record_rows=56&amp;sysparm_record_list=ORDERBYDESCsys_updated_on" TargetMode="External"/><Relationship Id="rId5" Type="http://schemas.openxmlformats.org/officeDocument/2006/relationships/hyperlink" Target="https://dev224807.service-now.com/sys_user_role.do?sys_id=f69d7669c3cd8b50f0a531cc05013167&amp;sysparm_record_target=sys_user_role&amp;sysparm_record_row=8&amp;sysparm_record_rows=602&amp;sysparm_record_list=ORDERBYDESCsys_updated_on" TargetMode="External"/><Relationship Id="rId4" Type="http://schemas.openxmlformats.org/officeDocument/2006/relationships/hyperlink" Target="https://dev224807.service-now.com/sys_user_role.do?sys_id=af369369c381cb50f0a531cc050131a6&amp;sysparm_record_target=sys_user_role&amp;sysparm_record_row=5&amp;sysparm_record_rows=602&amp;sysparm_record_list=ORDERBYDESCsys_updated_on"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p:nvPr/>
        </p:nvSpPr>
        <p:spPr>
          <a:xfrm>
            <a:off x="714240" y="743040"/>
            <a:ext cx="7714800" cy="571320"/>
          </a:xfrm>
          <a:prstGeom prst="rect">
            <a:avLst/>
          </a:prstGeom>
          <a:noFill/>
          <a:ln w="0">
            <a:noFill/>
          </a:ln>
        </p:spPr>
        <p:style>
          <a:lnRef idx="0">
            <a:scrgbClr r="0" g="0" b="0"/>
          </a:lnRef>
          <a:fillRef idx="0">
            <a:scrgbClr r="0" g="0" b="0"/>
          </a:fillRef>
          <a:effectRef idx="0">
            <a:scrgbClr r="0" g="0" b="0"/>
          </a:effectRef>
          <a:fontRef idx="minor"/>
        </p:style>
        <p:txBody>
          <a:bodyPr anchor="b">
            <a:normAutofit fontScale="85000" lnSpcReduction="19999"/>
          </a:bodyPr>
          <a:lstStyle/>
          <a:p>
            <a:pPr algn="ctr" defTabSz="914400">
              <a:lnSpc>
                <a:spcPct val="100000"/>
              </a:lnSpc>
              <a:tabLst>
                <a:tab pos="0" algn="l"/>
              </a:tabLst>
            </a:pPr>
            <a:r>
              <a:rPr lang="en-US" sz="4500" b="0" u="none" strike="noStrike" dirty="0">
                <a:solidFill>
                  <a:srgbClr val="034A9E"/>
                </a:solidFill>
                <a:effectLst/>
                <a:uFillTx/>
                <a:latin typeface="Montserrat"/>
              </a:rPr>
              <a:t>Gov Service Portal</a:t>
            </a:r>
            <a:endParaRPr lang="en-US" sz="4500" b="0" u="none" strike="noStrike" dirty="0">
              <a:solidFill>
                <a:srgbClr val="000000"/>
              </a:solidFill>
              <a:effectLst/>
              <a:uFillTx/>
              <a:latin typeface="OpenSymbol"/>
            </a:endParaRPr>
          </a:p>
        </p:txBody>
      </p:sp>
      <p:sp>
        <p:nvSpPr>
          <p:cNvPr id="30" name="Rectangle 29"/>
          <p:cNvSpPr/>
          <p:nvPr/>
        </p:nvSpPr>
        <p:spPr>
          <a:xfrm>
            <a:off x="2390760" y="2066760"/>
            <a:ext cx="4371480" cy="68544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9999"/>
          </a:bodyPr>
          <a:lstStyle/>
          <a:p>
            <a:pPr algn="ctr" defTabSz="914400">
              <a:lnSpc>
                <a:spcPct val="150000"/>
              </a:lnSpc>
              <a:tabLst>
                <a:tab pos="0" algn="l"/>
              </a:tabLst>
            </a:pPr>
            <a:r>
              <a:rPr lang="en-US" sz="1400" b="0" u="none" strike="noStrike" dirty="0">
                <a:solidFill>
                  <a:srgbClr val="034A9E"/>
                </a:solidFill>
                <a:effectLst/>
                <a:uFillTx/>
                <a:latin typeface="Montserrat Medium"/>
              </a:rPr>
              <a:t>Egypt Government Service Portal for citizens built on ServiceNow</a:t>
            </a:r>
            <a:endParaRPr lang="en-US" sz="1400" b="0" u="none" strike="noStrike" dirty="0">
              <a:solidFill>
                <a:srgbClr val="000000"/>
              </a:solidFill>
              <a:effectLst/>
              <a:uFillTx/>
              <a:latin typeface="OpenSymbol"/>
            </a:endParaRPr>
          </a:p>
        </p:txBody>
      </p:sp>
      <p:sp>
        <p:nvSpPr>
          <p:cNvPr id="2" name="Rectangle: Rounded Corners 1">
            <a:extLst>
              <a:ext uri="{FF2B5EF4-FFF2-40B4-BE49-F238E27FC236}">
                <a16:creationId xmlns:a16="http://schemas.microsoft.com/office/drawing/2014/main" id="{BE186A84-B86A-EEFB-FFDB-784CAD43AC83}"/>
              </a:ext>
            </a:extLst>
          </p:cNvPr>
          <p:cNvSpPr/>
          <p:nvPr/>
        </p:nvSpPr>
        <p:spPr>
          <a:xfrm>
            <a:off x="-368342" y="-13506"/>
            <a:ext cx="10225378" cy="263188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9F62801-DE4F-914F-8DF8-027EDFCC9F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8342" y="-267714"/>
            <a:ext cx="2415504" cy="1610336"/>
          </a:xfrm>
          <a:prstGeom prst="rect">
            <a:avLst/>
          </a:prstGeom>
        </p:spPr>
      </p:pic>
      <p:pic>
        <p:nvPicPr>
          <p:cNvPr id="9" name="Picture 8">
            <a:extLst>
              <a:ext uri="{FF2B5EF4-FFF2-40B4-BE49-F238E27FC236}">
                <a16:creationId xmlns:a16="http://schemas.microsoft.com/office/drawing/2014/main" id="{07A0939C-04B9-43FA-C47B-A39BABCF08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5158" y="-210527"/>
            <a:ext cx="2192963" cy="3289445"/>
          </a:xfrm>
          <a:prstGeom prst="rect">
            <a:avLst/>
          </a:prstGeom>
        </p:spPr>
      </p:pic>
      <p:sp>
        <p:nvSpPr>
          <p:cNvPr id="10" name="Rectangle: Rounded Corners 9">
            <a:extLst>
              <a:ext uri="{FF2B5EF4-FFF2-40B4-BE49-F238E27FC236}">
                <a16:creationId xmlns:a16="http://schemas.microsoft.com/office/drawing/2014/main" id="{B1630728-1637-B93E-17F5-74E91CD816EF}"/>
              </a:ext>
            </a:extLst>
          </p:cNvPr>
          <p:cNvSpPr/>
          <p:nvPr/>
        </p:nvSpPr>
        <p:spPr>
          <a:xfrm>
            <a:off x="-368342" y="2455492"/>
            <a:ext cx="10122010" cy="288608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1" name="TextBox 10">
            <a:extLst>
              <a:ext uri="{FF2B5EF4-FFF2-40B4-BE49-F238E27FC236}">
                <a16:creationId xmlns:a16="http://schemas.microsoft.com/office/drawing/2014/main" id="{793ECFEB-1826-1CEF-9FAB-8BABFDF184AC}"/>
              </a:ext>
            </a:extLst>
          </p:cNvPr>
          <p:cNvSpPr txBox="1"/>
          <p:nvPr/>
        </p:nvSpPr>
        <p:spPr>
          <a:xfrm>
            <a:off x="1194515" y="2630011"/>
            <a:ext cx="6754969" cy="584775"/>
          </a:xfrm>
          <a:prstGeom prst="rect">
            <a:avLst/>
          </a:prstGeom>
          <a:noFill/>
        </p:spPr>
        <p:txBody>
          <a:bodyPr wrap="square" rtlCol="0">
            <a:spAutoFit/>
          </a:bodyPr>
          <a:lstStyle/>
          <a:p>
            <a:r>
              <a:rPr lang="en-US" sz="3200" b="1" dirty="0"/>
              <a:t>Egypt Government Service Portal</a:t>
            </a:r>
          </a:p>
        </p:txBody>
      </p:sp>
      <p:sp>
        <p:nvSpPr>
          <p:cNvPr id="12" name="TextBox 11">
            <a:extLst>
              <a:ext uri="{FF2B5EF4-FFF2-40B4-BE49-F238E27FC236}">
                <a16:creationId xmlns:a16="http://schemas.microsoft.com/office/drawing/2014/main" id="{E78908B5-EA6F-0D34-1416-AEA1F0599D79}"/>
              </a:ext>
            </a:extLst>
          </p:cNvPr>
          <p:cNvSpPr txBox="1"/>
          <p:nvPr/>
        </p:nvSpPr>
        <p:spPr>
          <a:xfrm>
            <a:off x="1916264" y="3517132"/>
            <a:ext cx="4384784" cy="892552"/>
          </a:xfrm>
          <a:prstGeom prst="rect">
            <a:avLst/>
          </a:prstGeom>
          <a:noFill/>
        </p:spPr>
        <p:txBody>
          <a:bodyPr wrap="square" rtlCol="0">
            <a:spAutoFit/>
          </a:bodyPr>
          <a:lstStyle/>
          <a:p>
            <a:pPr algn="ctr"/>
            <a:r>
              <a:rPr lang="en-US" sz="2800" b="1" dirty="0">
                <a:solidFill>
                  <a:schemeClr val="bg1">
                    <a:lumMod val="10000"/>
                  </a:schemeClr>
                </a:solidFill>
                <a:latin typeface="Franklin Gothic Medium" panose="020B0603020102020204" pitchFamily="34" charset="0"/>
              </a:rPr>
              <a:t>Prepared By: </a:t>
            </a:r>
          </a:p>
          <a:p>
            <a:r>
              <a:rPr lang="en-US" sz="2400" b="1" dirty="0">
                <a:solidFill>
                  <a:schemeClr val="bg1">
                    <a:lumMod val="10000"/>
                  </a:schemeClr>
                </a:solidFill>
                <a:latin typeface="Franklin Gothic Medium" panose="020B0603020102020204" pitchFamily="34" charset="0"/>
              </a:rPr>
              <a:t>                  Marvy Adel</a:t>
            </a:r>
          </a:p>
        </p:txBody>
      </p:sp>
      <p:pic>
        <p:nvPicPr>
          <p:cNvPr id="14" name="Picture 13">
            <a:extLst>
              <a:ext uri="{FF2B5EF4-FFF2-40B4-BE49-F238E27FC236}">
                <a16:creationId xmlns:a16="http://schemas.microsoft.com/office/drawing/2014/main" id="{41CCD16A-FBD8-5DAB-F697-1DB3774892A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32379" y="-448654"/>
            <a:ext cx="3079242" cy="205282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p:cNvSpPr/>
          <p:nvPr/>
        </p:nvSpPr>
        <p:spPr>
          <a:xfrm>
            <a:off x="2937396" y="398355"/>
            <a:ext cx="3269207" cy="716823"/>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algn="ctr" defTabSz="914400">
              <a:lnSpc>
                <a:spcPct val="100000"/>
              </a:lnSpc>
              <a:tabLst>
                <a:tab pos="0" algn="l"/>
              </a:tabLst>
            </a:pPr>
            <a:r>
              <a:rPr lang="en-US" sz="3200" b="1" u="none" strike="noStrike" dirty="0">
                <a:solidFill>
                  <a:srgbClr val="034A9E"/>
                </a:solidFill>
                <a:effectLst/>
                <a:uFillTx/>
                <a:latin typeface="Montserrat"/>
              </a:rPr>
              <a:t>Introduction</a:t>
            </a:r>
            <a:endParaRPr lang="en-US" sz="3200" b="1" u="none" strike="noStrike" dirty="0">
              <a:solidFill>
                <a:srgbClr val="000000"/>
              </a:solidFill>
              <a:effectLst/>
              <a:uFillTx/>
              <a:latin typeface="OpenSymbol"/>
            </a:endParaRPr>
          </a:p>
        </p:txBody>
      </p:sp>
      <p:sp>
        <p:nvSpPr>
          <p:cNvPr id="33" name="Rectangle 32"/>
          <p:cNvSpPr/>
          <p:nvPr/>
        </p:nvSpPr>
        <p:spPr>
          <a:xfrm>
            <a:off x="659959" y="826935"/>
            <a:ext cx="7665057" cy="4007458"/>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a:bodyPr>
          <a:lstStyle/>
          <a:p>
            <a:r>
              <a:rPr lang="en-US" sz="1600" dirty="0"/>
              <a:t>Government services are an essential part of citizens' daily lives. However, many traditional government processes still rely on manual procedures, paper-based forms, and in-person visits, which can result in long waiting times, limited transparency, and difficulties in tracking service requests.</a:t>
            </a:r>
          </a:p>
          <a:p>
            <a:r>
              <a:rPr lang="en-US" sz="1600" dirty="0"/>
              <a:t>To address these challenges, digital transformation has become a key objective for modern governments. Providing citizens with online access to government services improves efficiency, accessibility, and user satisfaction while reducing administrative effort.</a:t>
            </a:r>
          </a:p>
          <a:p>
            <a:r>
              <a:rPr lang="en-US" sz="1600" dirty="0"/>
              <a:t>The Egypt Government Service Portal is a citizen-centric platform developed on the ServiceNow platform to streamline the delivery of government services. The portal enables citizens to register, submit service requests, track application status, book appointments, submit complaints, and share recommendations through a unified digital experience.</a:t>
            </a:r>
          </a:p>
          <a:p>
            <a:r>
              <a:rPr lang="en-US" sz="1600" dirty="0"/>
              <a:t>The project aims to enhance communication between citizens and government departments by providing a secure, transparent, and user-friendly self-service portal. By leveraging ServiceNow's capabilities, the solution demonstrates how modern workflow automation and digital services can improve the overall citizen experience.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43A24-8665-E06B-FE60-E87A28E5B823}"/>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849F57B7-6DDE-D405-F8CD-9D42A31CDB51}"/>
              </a:ext>
            </a:extLst>
          </p:cNvPr>
          <p:cNvGraphicFramePr>
            <a:graphicFrameLocks noGrp="1"/>
          </p:cNvGraphicFramePr>
          <p:nvPr>
            <p:extLst>
              <p:ext uri="{D42A27DB-BD31-4B8C-83A1-F6EECF244321}">
                <p14:modId xmlns:p14="http://schemas.microsoft.com/office/powerpoint/2010/main" val="2600649230"/>
              </p:ext>
            </p:extLst>
          </p:nvPr>
        </p:nvGraphicFramePr>
        <p:xfrm>
          <a:off x="262393" y="184248"/>
          <a:ext cx="8690776" cy="4770839"/>
        </p:xfrm>
        <a:graphic>
          <a:graphicData uri="http://schemas.openxmlformats.org/drawingml/2006/table">
            <a:tbl>
              <a:tblPr>
                <a:tableStyleId>{5C22544A-7EE6-4342-B048-85BDC9FD1C3A}</a:tableStyleId>
              </a:tblPr>
              <a:tblGrid>
                <a:gridCol w="327955">
                  <a:extLst>
                    <a:ext uri="{9D8B030D-6E8A-4147-A177-3AD203B41FA5}">
                      <a16:colId xmlns:a16="http://schemas.microsoft.com/office/drawing/2014/main" val="1456014252"/>
                    </a:ext>
                  </a:extLst>
                </a:gridCol>
                <a:gridCol w="1685946">
                  <a:extLst>
                    <a:ext uri="{9D8B030D-6E8A-4147-A177-3AD203B41FA5}">
                      <a16:colId xmlns:a16="http://schemas.microsoft.com/office/drawing/2014/main" val="3395286897"/>
                    </a:ext>
                  </a:extLst>
                </a:gridCol>
                <a:gridCol w="3982565">
                  <a:extLst>
                    <a:ext uri="{9D8B030D-6E8A-4147-A177-3AD203B41FA5}">
                      <a16:colId xmlns:a16="http://schemas.microsoft.com/office/drawing/2014/main" val="3593514268"/>
                    </a:ext>
                  </a:extLst>
                </a:gridCol>
                <a:gridCol w="916950">
                  <a:extLst>
                    <a:ext uri="{9D8B030D-6E8A-4147-A177-3AD203B41FA5}">
                      <a16:colId xmlns:a16="http://schemas.microsoft.com/office/drawing/2014/main" val="2187121298"/>
                    </a:ext>
                  </a:extLst>
                </a:gridCol>
                <a:gridCol w="1777360">
                  <a:extLst>
                    <a:ext uri="{9D8B030D-6E8A-4147-A177-3AD203B41FA5}">
                      <a16:colId xmlns:a16="http://schemas.microsoft.com/office/drawing/2014/main" val="2548738449"/>
                    </a:ext>
                  </a:extLst>
                </a:gridCol>
              </a:tblGrid>
              <a:tr h="193055">
                <a:tc>
                  <a:txBody>
                    <a:bodyPr/>
                    <a:lstStyle/>
                    <a:p>
                      <a:pPr marL="0" marR="0">
                        <a:lnSpc>
                          <a:spcPct val="115000"/>
                        </a:lnSpc>
                        <a:spcAft>
                          <a:spcPts val="800"/>
                        </a:spcAft>
                        <a:buNone/>
                      </a:pPr>
                      <a:r>
                        <a:rPr lang="en-US" sz="900" kern="100">
                          <a:effectLst/>
                        </a:rPr>
                        <a:t>#</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Table Label</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Table Name</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Extends</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Purpose</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extLst>
                  <a:ext uri="{0D108BD9-81ED-4DB2-BD59-A6C34878D82A}">
                    <a16:rowId xmlns:a16="http://schemas.microsoft.com/office/drawing/2014/main" val="2873665618"/>
                  </a:ext>
                </a:extLst>
              </a:tr>
              <a:tr h="625467">
                <a:tc>
                  <a:txBody>
                    <a:bodyPr/>
                    <a:lstStyle/>
                    <a:p>
                      <a:pPr marL="0" marR="0">
                        <a:lnSpc>
                          <a:spcPct val="115000"/>
                        </a:lnSpc>
                        <a:spcAft>
                          <a:spcPts val="800"/>
                        </a:spcAft>
                        <a:buNone/>
                      </a:pPr>
                      <a:r>
                        <a:rPr lang="en-US" sz="900" kern="100">
                          <a:effectLst/>
                        </a:rPr>
                        <a:t>1</a:t>
                      </a:r>
                      <a:endParaRPr lang="en-US" sz="9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dirty="0">
                          <a:effectLst/>
                        </a:rPr>
                        <a:t>Citizen Profile</a:t>
                      </a:r>
                      <a:endParaRPr lang="en-US" sz="900" kern="100" dirty="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br>
                        <a:rPr lang="en-US" sz="900" kern="100" dirty="0">
                          <a:effectLst/>
                        </a:rPr>
                      </a:br>
                      <a:r>
                        <a:rPr lang="en-US" sz="900" kern="100" dirty="0">
                          <a:effectLst/>
                        </a:rPr>
                        <a:t>x_1970971_egypt_0_citizen_profile</a:t>
                      </a:r>
                      <a:endParaRPr lang="en-US" sz="1000" kern="100" dirty="0">
                        <a:effectLst/>
                      </a:endParaRPr>
                    </a:p>
                    <a:p>
                      <a:pPr marL="0" marR="0">
                        <a:lnSpc>
                          <a:spcPct val="115000"/>
                        </a:lnSpc>
                        <a:spcAft>
                          <a:spcPts val="800"/>
                        </a:spcAft>
                        <a:buNone/>
                      </a:pPr>
                      <a:r>
                        <a:rPr lang="en-US" sz="1000" kern="100" dirty="0">
                          <a:effectLst/>
                        </a:rPr>
                        <a:t> </a:t>
                      </a:r>
                      <a:endParaRPr lang="en-US" sz="1000" kern="100" dirty="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Nothing</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Stores all citizen personal data and portal identity</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extLst>
                  <a:ext uri="{0D108BD9-81ED-4DB2-BD59-A6C34878D82A}">
                    <a16:rowId xmlns:a16="http://schemas.microsoft.com/office/drawing/2014/main" val="1680493476"/>
                  </a:ext>
                </a:extLst>
              </a:tr>
              <a:tr h="350342">
                <a:tc>
                  <a:txBody>
                    <a:bodyPr/>
                    <a:lstStyle/>
                    <a:p>
                      <a:pPr marL="0" marR="0">
                        <a:lnSpc>
                          <a:spcPct val="115000"/>
                        </a:lnSpc>
                        <a:spcAft>
                          <a:spcPts val="800"/>
                        </a:spcAft>
                        <a:buNone/>
                      </a:pPr>
                      <a:r>
                        <a:rPr lang="en-US" sz="900" kern="100">
                          <a:effectLst/>
                        </a:rPr>
                        <a:t>2</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Government Department</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x_1970971_egypt_0_government_department</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Nothing</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dirty="0">
                          <a:effectLst/>
                        </a:rPr>
                        <a:t>Master data for government departments</a:t>
                      </a:r>
                      <a:endParaRPr lang="en-US" sz="1000" kern="100" dirty="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extLst>
                  <a:ext uri="{0D108BD9-81ED-4DB2-BD59-A6C34878D82A}">
                    <a16:rowId xmlns:a16="http://schemas.microsoft.com/office/drawing/2014/main" val="1427458617"/>
                  </a:ext>
                </a:extLst>
              </a:tr>
              <a:tr h="642943">
                <a:tc>
                  <a:txBody>
                    <a:bodyPr/>
                    <a:lstStyle/>
                    <a:p>
                      <a:pPr marL="0" marR="0">
                        <a:lnSpc>
                          <a:spcPct val="115000"/>
                        </a:lnSpc>
                        <a:spcAft>
                          <a:spcPts val="800"/>
                        </a:spcAft>
                        <a:buNone/>
                      </a:pPr>
                      <a:r>
                        <a:rPr lang="en-US" sz="900" kern="100">
                          <a:effectLst/>
                        </a:rPr>
                        <a:t>3</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Citizen Request</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br>
                        <a:rPr lang="en-US" sz="1000" kern="100">
                          <a:effectLst/>
                        </a:rPr>
                      </a:br>
                      <a:r>
                        <a:rPr lang="en-US" sz="900" kern="100">
                          <a:effectLst/>
                        </a:rPr>
                        <a:t>x_1970971_egypt_0_citizen_request</a:t>
                      </a:r>
                      <a:endParaRPr lang="en-US" sz="1000" kern="100">
                        <a:effectLst/>
                      </a:endParaRPr>
                    </a:p>
                    <a:p>
                      <a:pPr marL="0" marR="0">
                        <a:lnSpc>
                          <a:spcPct val="115000"/>
                        </a:lnSpc>
                        <a:spcAft>
                          <a:spcPts val="800"/>
                        </a:spcAft>
                        <a:buNone/>
                      </a:pPr>
                      <a:r>
                        <a:rPr lang="en-US" sz="1000" kern="100">
                          <a:effectLst/>
                        </a:rPr>
                        <a:t> </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task</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Main service request — inherits SLA, approvals, assignment from Task</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extLst>
                  <a:ext uri="{0D108BD9-81ED-4DB2-BD59-A6C34878D82A}">
                    <a16:rowId xmlns:a16="http://schemas.microsoft.com/office/drawing/2014/main" val="3479589289"/>
                  </a:ext>
                </a:extLst>
              </a:tr>
              <a:tr h="415918">
                <a:tc>
                  <a:txBody>
                    <a:bodyPr/>
                    <a:lstStyle/>
                    <a:p>
                      <a:pPr marL="0" marR="0">
                        <a:lnSpc>
                          <a:spcPct val="115000"/>
                        </a:lnSpc>
                        <a:spcAft>
                          <a:spcPts val="800"/>
                        </a:spcAft>
                        <a:buNone/>
                      </a:pPr>
                      <a:r>
                        <a:rPr lang="en-US" sz="900" kern="100">
                          <a:effectLst/>
                        </a:rPr>
                        <a:t>4</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Appointment</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x_1970971_egypt_0_appointment</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Nothing</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Citizen appointments with government departments</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extLst>
                  <a:ext uri="{0D108BD9-81ED-4DB2-BD59-A6C34878D82A}">
                    <a16:rowId xmlns:a16="http://schemas.microsoft.com/office/drawing/2014/main" val="3354763888"/>
                  </a:ext>
                </a:extLst>
              </a:tr>
              <a:tr h="507723">
                <a:tc>
                  <a:txBody>
                    <a:bodyPr/>
                    <a:lstStyle/>
                    <a:p>
                      <a:pPr marL="0" marR="0">
                        <a:lnSpc>
                          <a:spcPct val="115000"/>
                        </a:lnSpc>
                        <a:spcAft>
                          <a:spcPts val="800"/>
                        </a:spcAft>
                        <a:buNone/>
                      </a:pPr>
                      <a:r>
                        <a:rPr lang="en-US" sz="900" kern="100">
                          <a:effectLst/>
                        </a:rPr>
                        <a:t>5</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Recommendation </a:t>
                      </a:r>
                      <a:br>
                        <a:rPr lang="en-US" sz="900" kern="100">
                          <a:effectLst/>
                        </a:rPr>
                      </a:br>
                      <a:r>
                        <a:rPr lang="en-US" sz="900" kern="100">
                          <a:effectLst/>
                        </a:rPr>
                        <a:t>List</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x_1970971_egypt_0_list_of_recommendations</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Nothing</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To be in the Portal and all Citizen Could See The other Recommendations </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extLst>
                  <a:ext uri="{0D108BD9-81ED-4DB2-BD59-A6C34878D82A}">
                    <a16:rowId xmlns:a16="http://schemas.microsoft.com/office/drawing/2014/main" val="1716127"/>
                  </a:ext>
                </a:extLst>
              </a:tr>
              <a:tr h="507628">
                <a:tc>
                  <a:txBody>
                    <a:bodyPr/>
                    <a:lstStyle/>
                    <a:p>
                      <a:pPr marL="0" marR="0">
                        <a:lnSpc>
                          <a:spcPct val="115000"/>
                        </a:lnSpc>
                        <a:spcAft>
                          <a:spcPts val="800"/>
                        </a:spcAft>
                        <a:buNone/>
                      </a:pPr>
                      <a:r>
                        <a:rPr lang="en-US" sz="900" kern="100">
                          <a:effectLst/>
                        </a:rPr>
                        <a:t>6</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Complaint</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x_1970971_egypt_0_complaint</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task</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Citizen complaints — inherits SLA and assignment from Task</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extLst>
                  <a:ext uri="{0D108BD9-81ED-4DB2-BD59-A6C34878D82A}">
                    <a16:rowId xmlns:a16="http://schemas.microsoft.com/office/drawing/2014/main" val="1803572819"/>
                  </a:ext>
                </a:extLst>
              </a:tr>
              <a:tr h="660419">
                <a:tc>
                  <a:txBody>
                    <a:bodyPr/>
                    <a:lstStyle/>
                    <a:p>
                      <a:pPr marL="0" marR="0">
                        <a:lnSpc>
                          <a:spcPct val="115000"/>
                        </a:lnSpc>
                        <a:spcAft>
                          <a:spcPts val="800"/>
                        </a:spcAft>
                        <a:buNone/>
                      </a:pPr>
                      <a:r>
                        <a:rPr lang="en-US" sz="900" kern="100">
                          <a:effectLst/>
                        </a:rPr>
                        <a:t>7</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Complaint Feedback</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br>
                        <a:rPr lang="en-US" sz="1000" kern="100">
                          <a:effectLst/>
                        </a:rPr>
                      </a:br>
                      <a:r>
                        <a:rPr lang="en-US" sz="1000" kern="100">
                          <a:effectLst/>
                        </a:rPr>
                        <a:t>x_1970971_egypt_0_complaint_feedback</a:t>
                      </a:r>
                    </a:p>
                    <a:p>
                      <a:pPr marL="0" marR="0">
                        <a:lnSpc>
                          <a:spcPct val="115000"/>
                        </a:lnSpc>
                        <a:spcAft>
                          <a:spcPts val="800"/>
                        </a:spcAft>
                        <a:buNone/>
                      </a:pPr>
                      <a:r>
                        <a:rPr lang="en-US" sz="1000" kern="100">
                          <a:effectLst/>
                        </a:rPr>
                        <a:t> </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Nothing</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Citizen satisfaction rating after complaint resolution</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extLst>
                  <a:ext uri="{0D108BD9-81ED-4DB2-BD59-A6C34878D82A}">
                    <a16:rowId xmlns:a16="http://schemas.microsoft.com/office/drawing/2014/main" val="580464239"/>
                  </a:ext>
                </a:extLst>
              </a:tr>
              <a:tr h="507628">
                <a:tc>
                  <a:txBody>
                    <a:bodyPr/>
                    <a:lstStyle/>
                    <a:p>
                      <a:pPr marL="0" marR="0">
                        <a:lnSpc>
                          <a:spcPct val="115000"/>
                        </a:lnSpc>
                        <a:spcAft>
                          <a:spcPts val="800"/>
                        </a:spcAft>
                        <a:buNone/>
                      </a:pPr>
                      <a:r>
                        <a:rPr lang="en-US" sz="900" kern="100">
                          <a:effectLst/>
                        </a:rPr>
                        <a:t>8</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Recommendation</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x_1970971_egypt_0_recommendation</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Nothing</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Citizens submit improvement suggestions with public voting</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extLst>
                  <a:ext uri="{0D108BD9-81ED-4DB2-BD59-A6C34878D82A}">
                    <a16:rowId xmlns:a16="http://schemas.microsoft.com/office/drawing/2014/main" val="1984211789"/>
                  </a:ext>
                </a:extLst>
              </a:tr>
              <a:tr h="350342">
                <a:tc>
                  <a:txBody>
                    <a:bodyPr/>
                    <a:lstStyle/>
                    <a:p>
                      <a:pPr marL="0" marR="0">
                        <a:lnSpc>
                          <a:spcPct val="115000"/>
                        </a:lnSpc>
                        <a:spcAft>
                          <a:spcPts val="800"/>
                        </a:spcAft>
                        <a:buNone/>
                      </a:pPr>
                      <a:r>
                        <a:rPr lang="en-US" sz="900" kern="100">
                          <a:effectLst/>
                        </a:rPr>
                        <a:t>9</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Recommendation Vote</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a:effectLst/>
                        </a:rPr>
                        <a:t>x_1970971_egypt_0_recommendation_vote</a:t>
                      </a:r>
                      <a:endParaRPr lang="en-US" sz="1000" kern="10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dirty="0">
                          <a:effectLst/>
                        </a:rPr>
                        <a:t>Nothing</a:t>
                      </a:r>
                      <a:endParaRPr lang="en-US" sz="1000" kern="100" dirty="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tc>
                  <a:txBody>
                    <a:bodyPr/>
                    <a:lstStyle/>
                    <a:p>
                      <a:pPr marL="0" marR="0">
                        <a:lnSpc>
                          <a:spcPct val="115000"/>
                        </a:lnSpc>
                        <a:spcAft>
                          <a:spcPts val="800"/>
                        </a:spcAft>
                        <a:buNone/>
                      </a:pPr>
                      <a:r>
                        <a:rPr lang="en-US" sz="900" kern="100" dirty="0">
                          <a:effectLst/>
                        </a:rPr>
                        <a:t>Tracks one vote per citizen per recommendation</a:t>
                      </a:r>
                      <a:endParaRPr lang="en-US" sz="1000" kern="100" dirty="0">
                        <a:effectLst/>
                        <a:latin typeface="Aptos" panose="020B0004020202020204" pitchFamily="34" charset="0"/>
                        <a:ea typeface="Aptos" panose="020B0004020202020204" pitchFamily="34" charset="0"/>
                        <a:cs typeface="Arial" panose="020B0604020202020204" pitchFamily="34" charset="0"/>
                      </a:endParaRPr>
                    </a:p>
                  </a:txBody>
                  <a:tcPr marL="33712" marR="33712" marT="22475" marB="22475"/>
                </a:tc>
                <a:extLst>
                  <a:ext uri="{0D108BD9-81ED-4DB2-BD59-A6C34878D82A}">
                    <a16:rowId xmlns:a16="http://schemas.microsoft.com/office/drawing/2014/main" val="970942337"/>
                  </a:ext>
                </a:extLst>
              </a:tr>
            </a:tbl>
          </a:graphicData>
        </a:graphic>
      </p:graphicFrame>
    </p:spTree>
    <p:extLst>
      <p:ext uri="{BB962C8B-B14F-4D97-AF65-F5344CB8AC3E}">
        <p14:creationId xmlns:p14="http://schemas.microsoft.com/office/powerpoint/2010/main" val="2260657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7F2F3-A355-5683-E026-748F463A6B26}"/>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C87185B-F3E3-9E95-8AAB-0F965C7B8C0B}"/>
              </a:ext>
            </a:extLst>
          </p:cNvPr>
          <p:cNvGraphicFramePr>
            <a:graphicFrameLocks noGrp="1"/>
          </p:cNvGraphicFramePr>
          <p:nvPr>
            <p:extLst>
              <p:ext uri="{D42A27DB-BD31-4B8C-83A1-F6EECF244321}">
                <p14:modId xmlns:p14="http://schemas.microsoft.com/office/powerpoint/2010/main" val="3820767457"/>
              </p:ext>
            </p:extLst>
          </p:nvPr>
        </p:nvGraphicFramePr>
        <p:xfrm>
          <a:off x="755374" y="771277"/>
          <a:ext cx="7482177" cy="3832532"/>
        </p:xfrm>
        <a:graphic>
          <a:graphicData uri="http://schemas.openxmlformats.org/drawingml/2006/table">
            <a:tbl>
              <a:tblPr>
                <a:tableStyleId>{5C22544A-7EE6-4342-B048-85BDC9FD1C3A}</a:tableStyleId>
              </a:tblPr>
              <a:tblGrid>
                <a:gridCol w="2287925">
                  <a:extLst>
                    <a:ext uri="{9D8B030D-6E8A-4147-A177-3AD203B41FA5}">
                      <a16:colId xmlns:a16="http://schemas.microsoft.com/office/drawing/2014/main" val="3198373810"/>
                    </a:ext>
                  </a:extLst>
                </a:gridCol>
                <a:gridCol w="2150317">
                  <a:extLst>
                    <a:ext uri="{9D8B030D-6E8A-4147-A177-3AD203B41FA5}">
                      <a16:colId xmlns:a16="http://schemas.microsoft.com/office/drawing/2014/main" val="3283780556"/>
                    </a:ext>
                  </a:extLst>
                </a:gridCol>
                <a:gridCol w="3043935">
                  <a:extLst>
                    <a:ext uri="{9D8B030D-6E8A-4147-A177-3AD203B41FA5}">
                      <a16:colId xmlns:a16="http://schemas.microsoft.com/office/drawing/2014/main" val="1637223964"/>
                    </a:ext>
                  </a:extLst>
                </a:gridCol>
              </a:tblGrid>
              <a:tr h="444232">
                <a:tc>
                  <a:txBody>
                    <a:bodyPr/>
                    <a:lstStyle/>
                    <a:p>
                      <a:pPr marL="0" marR="0">
                        <a:lnSpc>
                          <a:spcPct val="115000"/>
                        </a:lnSpc>
                        <a:spcAft>
                          <a:spcPts val="800"/>
                        </a:spcAft>
                        <a:buNone/>
                      </a:pPr>
                      <a:r>
                        <a:rPr lang="en-US" sz="1000" kern="100">
                          <a:effectLst/>
                        </a:rPr>
                        <a:t>Group Name</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tc>
                  <a:txBody>
                    <a:bodyPr/>
                    <a:lstStyle/>
                    <a:p>
                      <a:pPr marL="0" marR="0">
                        <a:lnSpc>
                          <a:spcPct val="115000"/>
                        </a:lnSpc>
                        <a:spcAft>
                          <a:spcPts val="800"/>
                        </a:spcAft>
                        <a:buNone/>
                      </a:pPr>
                      <a:r>
                        <a:rPr lang="en-US" sz="1000" kern="100">
                          <a:effectLst/>
                        </a:rPr>
                        <a:t>Assigned Role</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tc>
                  <a:txBody>
                    <a:bodyPr/>
                    <a:lstStyle/>
                    <a:p>
                      <a:pPr marL="0" marR="0">
                        <a:lnSpc>
                          <a:spcPct val="115000"/>
                        </a:lnSpc>
                        <a:spcAft>
                          <a:spcPts val="800"/>
                        </a:spcAft>
                        <a:buNone/>
                      </a:pPr>
                      <a:r>
                        <a:rPr lang="en-US" sz="1000" kern="100">
                          <a:effectLst/>
                        </a:rPr>
                        <a:t>Purpose</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extLst>
                  <a:ext uri="{0D108BD9-81ED-4DB2-BD59-A6C34878D82A}">
                    <a16:rowId xmlns:a16="http://schemas.microsoft.com/office/drawing/2014/main" val="4237653234"/>
                  </a:ext>
                </a:extLst>
              </a:tr>
              <a:tr h="736017">
                <a:tc>
                  <a:txBody>
                    <a:bodyPr/>
                    <a:lstStyle/>
                    <a:p>
                      <a:pPr marL="0" marR="0">
                        <a:lnSpc>
                          <a:spcPct val="115000"/>
                        </a:lnSpc>
                        <a:spcAft>
                          <a:spcPts val="800"/>
                        </a:spcAft>
                        <a:buNone/>
                      </a:pPr>
                      <a:r>
                        <a:rPr lang="en-US" sz="1000" kern="100">
                          <a:effectLst/>
                        </a:rPr>
                        <a:t>EgyptGov - Citizens</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tc>
                  <a:txBody>
                    <a:bodyPr/>
                    <a:lstStyle/>
                    <a:p>
                      <a:pPr marL="0" marR="0">
                        <a:lnSpc>
                          <a:spcPct val="115000"/>
                        </a:lnSpc>
                        <a:spcAft>
                          <a:spcPts val="800"/>
                        </a:spcAft>
                        <a:buNone/>
                      </a:pPr>
                      <a:r>
                        <a:rPr lang="en-US" sz="1000" u="sng" kern="100">
                          <a:effectLst/>
                          <a:hlinkClick r:id="rId2"/>
                        </a:rPr>
                        <a:t>x_1970971_egypt_0.citizen</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tc>
                  <a:txBody>
                    <a:bodyPr/>
                    <a:lstStyle/>
                    <a:p>
                      <a:pPr marL="0" marR="0">
                        <a:lnSpc>
                          <a:spcPct val="115000"/>
                        </a:lnSpc>
                        <a:spcAft>
                          <a:spcPts val="800"/>
                        </a:spcAft>
                        <a:buNone/>
                      </a:pPr>
                      <a:r>
                        <a:rPr lang="en-US" sz="1000" kern="100">
                          <a:effectLst/>
                        </a:rPr>
                        <a:t>All registered portal users</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extLst>
                  <a:ext uri="{0D108BD9-81ED-4DB2-BD59-A6C34878D82A}">
                    <a16:rowId xmlns:a16="http://schemas.microsoft.com/office/drawing/2014/main" val="3308067513"/>
                  </a:ext>
                </a:extLst>
              </a:tr>
              <a:tr h="444232">
                <a:tc>
                  <a:txBody>
                    <a:bodyPr/>
                    <a:lstStyle/>
                    <a:p>
                      <a:pPr marL="0" marR="0">
                        <a:lnSpc>
                          <a:spcPct val="115000"/>
                        </a:lnSpc>
                        <a:spcAft>
                          <a:spcPts val="800"/>
                        </a:spcAft>
                        <a:buNone/>
                      </a:pPr>
                      <a:r>
                        <a:rPr lang="en-US" sz="1000" kern="100" dirty="0" err="1">
                          <a:effectLst/>
                        </a:rPr>
                        <a:t>EgyptGov</a:t>
                      </a:r>
                      <a:r>
                        <a:rPr lang="en-US" sz="1000" kern="100" dirty="0">
                          <a:effectLst/>
                        </a:rPr>
                        <a:t> - Agents</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tc>
                  <a:txBody>
                    <a:bodyPr/>
                    <a:lstStyle/>
                    <a:p>
                      <a:pPr marL="0" marR="0">
                        <a:lnSpc>
                          <a:spcPct val="115000"/>
                        </a:lnSpc>
                        <a:spcAft>
                          <a:spcPts val="800"/>
                        </a:spcAft>
                        <a:buNone/>
                      </a:pPr>
                      <a:r>
                        <a:rPr lang="en-US" sz="1000" u="sng" kern="100">
                          <a:effectLst/>
                          <a:hlinkClick r:id="rId3"/>
                        </a:rPr>
                        <a:t>x_1970971_egypt_0.agent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tc>
                  <a:txBody>
                    <a:bodyPr/>
                    <a:lstStyle/>
                    <a:p>
                      <a:pPr marL="0" marR="0">
                        <a:lnSpc>
                          <a:spcPct val="115000"/>
                        </a:lnSpc>
                        <a:spcAft>
                          <a:spcPts val="800"/>
                        </a:spcAft>
                        <a:buNone/>
                      </a:pPr>
                      <a:r>
                        <a:rPr lang="en-US" sz="1000" kern="100">
                          <a:effectLst/>
                        </a:rPr>
                        <a:t>Government service agents</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extLst>
                  <a:ext uri="{0D108BD9-81ED-4DB2-BD59-A6C34878D82A}">
                    <a16:rowId xmlns:a16="http://schemas.microsoft.com/office/drawing/2014/main" val="1498325469"/>
                  </a:ext>
                </a:extLst>
              </a:tr>
              <a:tr h="736017">
                <a:tc>
                  <a:txBody>
                    <a:bodyPr/>
                    <a:lstStyle/>
                    <a:p>
                      <a:pPr marL="0" marR="0">
                        <a:lnSpc>
                          <a:spcPct val="115000"/>
                        </a:lnSpc>
                        <a:spcAft>
                          <a:spcPts val="800"/>
                        </a:spcAft>
                        <a:buNone/>
                      </a:pPr>
                      <a:r>
                        <a:rPr lang="en-US" sz="1000" kern="100">
                          <a:effectLst/>
                        </a:rPr>
                        <a:t>EgyptGov - Dept Managers</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tc>
                  <a:txBody>
                    <a:bodyPr/>
                    <a:lstStyle/>
                    <a:p>
                      <a:pPr marL="0" marR="0">
                        <a:lnSpc>
                          <a:spcPct val="115000"/>
                        </a:lnSpc>
                        <a:spcAft>
                          <a:spcPts val="800"/>
                        </a:spcAft>
                        <a:buNone/>
                      </a:pPr>
                      <a:r>
                        <a:rPr lang="en-US" sz="1000" u="sng" kern="100">
                          <a:effectLst/>
                          <a:hlinkClick r:id="rId4"/>
                        </a:rPr>
                        <a:t>x_1970971_egypt_0.dept_manager</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tc>
                  <a:txBody>
                    <a:bodyPr/>
                    <a:lstStyle/>
                    <a:p>
                      <a:pPr marL="0" marR="0">
                        <a:lnSpc>
                          <a:spcPct val="115000"/>
                        </a:lnSpc>
                        <a:spcAft>
                          <a:spcPts val="800"/>
                        </a:spcAft>
                        <a:buNone/>
                      </a:pPr>
                      <a:r>
                        <a:rPr lang="en-US" sz="1000" kern="100">
                          <a:effectLst/>
                        </a:rPr>
                        <a:t>Department heads and approvers</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extLst>
                  <a:ext uri="{0D108BD9-81ED-4DB2-BD59-A6C34878D82A}">
                    <a16:rowId xmlns:a16="http://schemas.microsoft.com/office/drawing/2014/main" val="596270736"/>
                  </a:ext>
                </a:extLst>
              </a:tr>
              <a:tr h="736017">
                <a:tc>
                  <a:txBody>
                    <a:bodyPr/>
                    <a:lstStyle/>
                    <a:p>
                      <a:pPr marL="0" marR="0">
                        <a:lnSpc>
                          <a:spcPct val="115000"/>
                        </a:lnSpc>
                        <a:spcAft>
                          <a:spcPts val="800"/>
                        </a:spcAft>
                        <a:buNone/>
                      </a:pPr>
                      <a:r>
                        <a:rPr lang="en-US" sz="1000" kern="100">
                          <a:effectLst/>
                        </a:rPr>
                        <a:t>EgyptGov - Admins</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tc>
                  <a:txBody>
                    <a:bodyPr/>
                    <a:lstStyle/>
                    <a:p>
                      <a:pPr marL="0" marR="0">
                        <a:lnSpc>
                          <a:spcPct val="115000"/>
                        </a:lnSpc>
                        <a:spcAft>
                          <a:spcPts val="800"/>
                        </a:spcAft>
                        <a:buNone/>
                      </a:pPr>
                      <a:r>
                        <a:rPr lang="en-US" sz="1000" u="sng" kern="100">
                          <a:effectLst/>
                          <a:hlinkClick r:id="rId5"/>
                        </a:rPr>
                        <a:t>x_1970971_egypt_0.admin</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tc>
                  <a:txBody>
                    <a:bodyPr/>
                    <a:lstStyle/>
                    <a:p>
                      <a:pPr marL="0" marR="0">
                        <a:lnSpc>
                          <a:spcPct val="115000"/>
                        </a:lnSpc>
                        <a:spcAft>
                          <a:spcPts val="800"/>
                        </a:spcAft>
                        <a:buNone/>
                      </a:pPr>
                      <a:r>
                        <a:rPr lang="en-US" sz="1000" kern="100">
                          <a:effectLst/>
                        </a:rPr>
                        <a:t>System administrators</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extLst>
                  <a:ext uri="{0D108BD9-81ED-4DB2-BD59-A6C34878D82A}">
                    <a16:rowId xmlns:a16="http://schemas.microsoft.com/office/drawing/2014/main" val="931969257"/>
                  </a:ext>
                </a:extLst>
              </a:tr>
              <a:tr h="736017">
                <a:tc>
                  <a:txBody>
                    <a:bodyPr/>
                    <a:lstStyle/>
                    <a:p>
                      <a:pPr marL="0" marR="0">
                        <a:lnSpc>
                          <a:spcPct val="115000"/>
                        </a:lnSpc>
                        <a:spcAft>
                          <a:spcPts val="800"/>
                        </a:spcAft>
                        <a:buNone/>
                      </a:pPr>
                      <a:r>
                        <a:rPr lang="en-US" sz="800" u="sng" kern="100">
                          <a:effectLst/>
                          <a:hlinkClick r:id="rId6"/>
                        </a:rPr>
                        <a:t>EGYPTGOV-Complaint Handler</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tc>
                  <a:txBody>
                    <a:bodyPr/>
                    <a:lstStyle/>
                    <a:p>
                      <a:pPr marL="0" marR="0">
                        <a:lnSpc>
                          <a:spcPct val="115000"/>
                        </a:lnSpc>
                        <a:spcAft>
                          <a:spcPts val="800"/>
                        </a:spcAft>
                        <a:buNone/>
                      </a:pPr>
                      <a:r>
                        <a:rPr lang="en-US" sz="1000" u="sng" kern="100">
                          <a:effectLst/>
                          <a:hlinkClick r:id="rId7"/>
                        </a:rPr>
                        <a:t>x_1970971_egypt_0.complaint_handler</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tc>
                  <a:txBody>
                    <a:bodyPr/>
                    <a:lstStyle/>
                    <a:p>
                      <a:pPr marL="0" marR="0">
                        <a:lnSpc>
                          <a:spcPct val="115000"/>
                        </a:lnSpc>
                        <a:spcAft>
                          <a:spcPts val="800"/>
                        </a:spcAft>
                        <a:buNone/>
                      </a:pPr>
                      <a:r>
                        <a:rPr lang="en-US" sz="1000" kern="100" dirty="0">
                          <a:effectLst/>
                        </a:rPr>
                        <a:t>Complaints Solvers</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76200" marR="76200" marT="50800" marB="50800"/>
                </a:tc>
                <a:extLst>
                  <a:ext uri="{0D108BD9-81ED-4DB2-BD59-A6C34878D82A}">
                    <a16:rowId xmlns:a16="http://schemas.microsoft.com/office/drawing/2014/main" val="1262702160"/>
                  </a:ext>
                </a:extLst>
              </a:tr>
            </a:tbl>
          </a:graphicData>
        </a:graphic>
      </p:graphicFrame>
    </p:spTree>
    <p:extLst>
      <p:ext uri="{BB962C8B-B14F-4D97-AF65-F5344CB8AC3E}">
        <p14:creationId xmlns:p14="http://schemas.microsoft.com/office/powerpoint/2010/main" val="21357277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p:cNvSpPr/>
          <p:nvPr/>
        </p:nvSpPr>
        <p:spPr>
          <a:xfrm>
            <a:off x="2111767" y="444769"/>
            <a:ext cx="1764469" cy="641185"/>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3600" dirty="0">
                <a:solidFill>
                  <a:srgbClr val="034A9E"/>
                </a:solidFill>
                <a:latin typeface="Montserrat"/>
              </a:rPr>
              <a:t>	MAP</a:t>
            </a:r>
            <a:endParaRPr lang="en-US" sz="3600" b="0" u="none" strike="noStrike" dirty="0">
              <a:solidFill>
                <a:srgbClr val="000000"/>
              </a:solidFill>
              <a:effectLst/>
              <a:uFillTx/>
              <a:latin typeface="OpenSymbol"/>
            </a:endParaRPr>
          </a:p>
        </p:txBody>
      </p:sp>
      <p:sp>
        <p:nvSpPr>
          <p:cNvPr id="2" name="Explosion: 8 Points 1">
            <a:extLst>
              <a:ext uri="{FF2B5EF4-FFF2-40B4-BE49-F238E27FC236}">
                <a16:creationId xmlns:a16="http://schemas.microsoft.com/office/drawing/2014/main" id="{114B5722-19E1-16CE-1E63-BDB4D96D0AF9}"/>
              </a:ext>
            </a:extLst>
          </p:cNvPr>
          <p:cNvSpPr/>
          <p:nvPr/>
        </p:nvSpPr>
        <p:spPr>
          <a:xfrm>
            <a:off x="428928" y="996505"/>
            <a:ext cx="2059388" cy="1192696"/>
          </a:xfrm>
          <a:prstGeom prst="irregularSeal1">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Phase 1</a:t>
            </a:r>
          </a:p>
        </p:txBody>
      </p:sp>
      <p:cxnSp>
        <p:nvCxnSpPr>
          <p:cNvPr id="10" name="Connector: Elbow 9">
            <a:extLst>
              <a:ext uri="{FF2B5EF4-FFF2-40B4-BE49-F238E27FC236}">
                <a16:creationId xmlns:a16="http://schemas.microsoft.com/office/drawing/2014/main" id="{6935FA84-0D74-5DE3-5FC4-E540CA5447E1}"/>
              </a:ext>
            </a:extLst>
          </p:cNvPr>
          <p:cNvCxnSpPr>
            <a:cxnSpLocks/>
            <a:stCxn id="2" idx="2"/>
          </p:cNvCxnSpPr>
          <p:nvPr/>
        </p:nvCxnSpPr>
        <p:spPr>
          <a:xfrm rot="16200000" flipH="1">
            <a:off x="1168666" y="2258439"/>
            <a:ext cx="983370" cy="84489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Explosion: 14 Points 12">
            <a:extLst>
              <a:ext uri="{FF2B5EF4-FFF2-40B4-BE49-F238E27FC236}">
                <a16:creationId xmlns:a16="http://schemas.microsoft.com/office/drawing/2014/main" id="{81131E15-D6A6-D878-BB7A-8B8B9C4F54FA}"/>
              </a:ext>
            </a:extLst>
          </p:cNvPr>
          <p:cNvSpPr/>
          <p:nvPr/>
        </p:nvSpPr>
        <p:spPr>
          <a:xfrm>
            <a:off x="1726085" y="2680885"/>
            <a:ext cx="3171736" cy="1077348"/>
          </a:xfrm>
          <a:prstGeom prst="irregularSeal2">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2</a:t>
            </a:r>
          </a:p>
        </p:txBody>
      </p:sp>
      <p:pic>
        <p:nvPicPr>
          <p:cNvPr id="19" name="Picture 18">
            <a:extLst>
              <a:ext uri="{FF2B5EF4-FFF2-40B4-BE49-F238E27FC236}">
                <a16:creationId xmlns:a16="http://schemas.microsoft.com/office/drawing/2014/main" id="{121E8BE1-5C6A-522C-171D-0A788D7870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784787">
            <a:off x="1576328" y="2020682"/>
            <a:ext cx="865585" cy="865585"/>
          </a:xfrm>
          <a:prstGeom prst="rect">
            <a:avLst/>
          </a:prstGeom>
        </p:spPr>
      </p:pic>
      <p:sp>
        <p:nvSpPr>
          <p:cNvPr id="22" name="Explosion: 14 Points 21">
            <a:extLst>
              <a:ext uri="{FF2B5EF4-FFF2-40B4-BE49-F238E27FC236}">
                <a16:creationId xmlns:a16="http://schemas.microsoft.com/office/drawing/2014/main" id="{9521C9D0-7613-ED92-8C89-F572CDF9EC4F}"/>
              </a:ext>
            </a:extLst>
          </p:cNvPr>
          <p:cNvSpPr/>
          <p:nvPr/>
        </p:nvSpPr>
        <p:spPr>
          <a:xfrm rot="415652">
            <a:off x="4075735" y="848882"/>
            <a:ext cx="2412288" cy="1228722"/>
          </a:xfrm>
          <a:prstGeom prst="irregularSeal2">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3</a:t>
            </a:r>
          </a:p>
        </p:txBody>
      </p:sp>
      <p:sp>
        <p:nvSpPr>
          <p:cNvPr id="23" name="Explosion: 14 Points 22">
            <a:extLst>
              <a:ext uri="{FF2B5EF4-FFF2-40B4-BE49-F238E27FC236}">
                <a16:creationId xmlns:a16="http://schemas.microsoft.com/office/drawing/2014/main" id="{86FB5D4A-75C3-4B61-ACB6-31764552F1FB}"/>
              </a:ext>
            </a:extLst>
          </p:cNvPr>
          <p:cNvSpPr/>
          <p:nvPr/>
        </p:nvSpPr>
        <p:spPr>
          <a:xfrm rot="824279">
            <a:off x="6294074" y="2452535"/>
            <a:ext cx="2433543" cy="1380998"/>
          </a:xfrm>
          <a:prstGeom prst="irregularSeal2">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4</a:t>
            </a:r>
          </a:p>
        </p:txBody>
      </p:sp>
      <p:pic>
        <p:nvPicPr>
          <p:cNvPr id="24" name="Picture 23">
            <a:extLst>
              <a:ext uri="{FF2B5EF4-FFF2-40B4-BE49-F238E27FC236}">
                <a16:creationId xmlns:a16="http://schemas.microsoft.com/office/drawing/2014/main" id="{599BAB72-E417-433E-4EE1-4A94D2F0144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21937" y="1936286"/>
            <a:ext cx="865585" cy="865585"/>
          </a:xfrm>
          <a:prstGeom prst="rect">
            <a:avLst/>
          </a:prstGeom>
        </p:spPr>
      </p:pic>
      <p:pic>
        <p:nvPicPr>
          <p:cNvPr id="27" name="Picture 26">
            <a:extLst>
              <a:ext uri="{FF2B5EF4-FFF2-40B4-BE49-F238E27FC236}">
                <a16:creationId xmlns:a16="http://schemas.microsoft.com/office/drawing/2014/main" id="{86F5324D-B5BD-3B30-F441-45F5F8C2C3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81879" y="4174326"/>
            <a:ext cx="742326" cy="742326"/>
          </a:xfrm>
          <a:prstGeom prst="rect">
            <a:avLst/>
          </a:prstGeom>
        </p:spPr>
      </p:pic>
      <p:pic>
        <p:nvPicPr>
          <p:cNvPr id="28" name="Picture 27">
            <a:extLst>
              <a:ext uri="{FF2B5EF4-FFF2-40B4-BE49-F238E27FC236}">
                <a16:creationId xmlns:a16="http://schemas.microsoft.com/office/drawing/2014/main" id="{51CF12C3-AB58-F732-12B3-0E05AA7F22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466208">
            <a:off x="3913973" y="2002250"/>
            <a:ext cx="865585" cy="865585"/>
          </a:xfrm>
          <a:prstGeom prst="rect">
            <a:avLst/>
          </a:prstGeom>
        </p:spPr>
      </p:pic>
      <p:pic>
        <p:nvPicPr>
          <p:cNvPr id="29" name="Picture 28">
            <a:extLst>
              <a:ext uri="{FF2B5EF4-FFF2-40B4-BE49-F238E27FC236}">
                <a16:creationId xmlns:a16="http://schemas.microsoft.com/office/drawing/2014/main" id="{C71D3635-9659-62F0-6566-99BA36E046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895989">
            <a:off x="5727093" y="3426469"/>
            <a:ext cx="865585" cy="86558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xplosion: 8 Points 1">
            <a:extLst>
              <a:ext uri="{FF2B5EF4-FFF2-40B4-BE49-F238E27FC236}">
                <a16:creationId xmlns:a16="http://schemas.microsoft.com/office/drawing/2014/main" id="{2D192527-5FA9-BD30-4C5C-AFC2232BFEB7}"/>
              </a:ext>
            </a:extLst>
          </p:cNvPr>
          <p:cNvSpPr/>
          <p:nvPr/>
        </p:nvSpPr>
        <p:spPr>
          <a:xfrm>
            <a:off x="511078" y="261400"/>
            <a:ext cx="1882265" cy="780222"/>
          </a:xfrm>
          <a:prstGeom prst="irregularSeal1">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Phase 1</a:t>
            </a:r>
          </a:p>
        </p:txBody>
      </p:sp>
      <p:sp>
        <p:nvSpPr>
          <p:cNvPr id="3" name="TextBox 2">
            <a:extLst>
              <a:ext uri="{FF2B5EF4-FFF2-40B4-BE49-F238E27FC236}">
                <a16:creationId xmlns:a16="http://schemas.microsoft.com/office/drawing/2014/main" id="{16908BCA-D53E-D581-B2E1-558B58CAA733}"/>
              </a:ext>
            </a:extLst>
          </p:cNvPr>
          <p:cNvSpPr txBox="1"/>
          <p:nvPr/>
        </p:nvSpPr>
        <p:spPr>
          <a:xfrm>
            <a:off x="3077154" y="579957"/>
            <a:ext cx="3450869" cy="461665"/>
          </a:xfrm>
          <a:prstGeom prst="rect">
            <a:avLst/>
          </a:prstGeom>
          <a:noFill/>
        </p:spPr>
        <p:txBody>
          <a:bodyPr wrap="square" rtlCol="0">
            <a:spAutoFit/>
          </a:bodyPr>
          <a:lstStyle/>
          <a:p>
            <a:r>
              <a:rPr lang="en-US" sz="2400" b="1" u="sng" dirty="0">
                <a:effectLst>
                  <a:outerShdw blurRad="38100" dist="38100" dir="2700000" algn="tl">
                    <a:srgbClr val="000000">
                      <a:alpha val="43137"/>
                    </a:srgbClr>
                  </a:outerShdw>
                </a:effectLst>
              </a:rPr>
              <a:t>Registration &amp; Sign in </a:t>
            </a:r>
          </a:p>
        </p:txBody>
      </p:sp>
      <p:pic>
        <p:nvPicPr>
          <p:cNvPr id="7" name="Picture 6">
            <a:extLst>
              <a:ext uri="{FF2B5EF4-FFF2-40B4-BE49-F238E27FC236}">
                <a16:creationId xmlns:a16="http://schemas.microsoft.com/office/drawing/2014/main" id="{93BD1E6A-D8DC-4B27-3BCC-14203661C3BA}"/>
              </a:ext>
            </a:extLst>
          </p:cNvPr>
          <p:cNvPicPr>
            <a:picLocks noChangeAspect="1"/>
          </p:cNvPicPr>
          <p:nvPr/>
        </p:nvPicPr>
        <p:blipFill>
          <a:blip r:embed="rId2"/>
          <a:stretch>
            <a:fillRect/>
          </a:stretch>
        </p:blipFill>
        <p:spPr>
          <a:xfrm>
            <a:off x="4149229" y="1105232"/>
            <a:ext cx="3116911" cy="2273417"/>
          </a:xfrm>
          <a:prstGeom prst="rect">
            <a:avLst/>
          </a:prstGeom>
        </p:spPr>
      </p:pic>
      <p:sp>
        <p:nvSpPr>
          <p:cNvPr id="10" name="Rectangle: Rounded Corners 9">
            <a:extLst>
              <a:ext uri="{FF2B5EF4-FFF2-40B4-BE49-F238E27FC236}">
                <a16:creationId xmlns:a16="http://schemas.microsoft.com/office/drawing/2014/main" id="{0BAECFDC-AEA9-E161-C2ED-5B46819967CA}"/>
              </a:ext>
            </a:extLst>
          </p:cNvPr>
          <p:cNvSpPr/>
          <p:nvPr/>
        </p:nvSpPr>
        <p:spPr>
          <a:xfrm>
            <a:off x="4985468" y="3498574"/>
            <a:ext cx="3450869" cy="12960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Sign in is a clone from OOTB widget called sign in</a:t>
            </a:r>
          </a:p>
        </p:txBody>
      </p:sp>
      <p:pic>
        <p:nvPicPr>
          <p:cNvPr id="6" name="Picture 5">
            <a:extLst>
              <a:ext uri="{FF2B5EF4-FFF2-40B4-BE49-F238E27FC236}">
                <a16:creationId xmlns:a16="http://schemas.microsoft.com/office/drawing/2014/main" id="{8FA9F146-A0AD-765F-3644-145DF650F875}"/>
              </a:ext>
            </a:extLst>
          </p:cNvPr>
          <p:cNvPicPr>
            <a:picLocks noChangeAspect="1"/>
          </p:cNvPicPr>
          <p:nvPr/>
        </p:nvPicPr>
        <p:blipFill>
          <a:blip r:embed="rId3"/>
          <a:stretch>
            <a:fillRect/>
          </a:stretch>
        </p:blipFill>
        <p:spPr>
          <a:xfrm>
            <a:off x="707663" y="869147"/>
            <a:ext cx="3116911" cy="401295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75E728-D2A5-BA01-CD00-72C86BB3F5D4}"/>
              </a:ext>
            </a:extLst>
          </p:cNvPr>
          <p:cNvPicPr>
            <a:picLocks noChangeAspect="1"/>
          </p:cNvPicPr>
          <p:nvPr/>
        </p:nvPicPr>
        <p:blipFill>
          <a:blip r:embed="rId2"/>
          <a:stretch>
            <a:fillRect/>
          </a:stretch>
        </p:blipFill>
        <p:spPr>
          <a:xfrm>
            <a:off x="651276" y="382855"/>
            <a:ext cx="3483402" cy="4377790"/>
          </a:xfrm>
          <a:prstGeom prst="rect">
            <a:avLst/>
          </a:prstGeom>
        </p:spPr>
      </p:pic>
      <p:pic>
        <p:nvPicPr>
          <p:cNvPr id="5" name="Picture 4">
            <a:extLst>
              <a:ext uri="{FF2B5EF4-FFF2-40B4-BE49-F238E27FC236}">
                <a16:creationId xmlns:a16="http://schemas.microsoft.com/office/drawing/2014/main" id="{AAC99B0D-4A70-75D0-11A0-125A0597BA1B}"/>
              </a:ext>
            </a:extLst>
          </p:cNvPr>
          <p:cNvPicPr>
            <a:picLocks noChangeAspect="1"/>
          </p:cNvPicPr>
          <p:nvPr/>
        </p:nvPicPr>
        <p:blipFill>
          <a:blip r:embed="rId3"/>
          <a:stretch>
            <a:fillRect/>
          </a:stretch>
        </p:blipFill>
        <p:spPr>
          <a:xfrm>
            <a:off x="4627659" y="373844"/>
            <a:ext cx="3554233" cy="452902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p:cNvSpPr/>
          <p:nvPr/>
        </p:nvSpPr>
        <p:spPr>
          <a:xfrm>
            <a:off x="857160" y="762120"/>
            <a:ext cx="74293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endParaRPr lang="en-US" sz="2400" b="0" u="none" strike="noStrike" dirty="0">
              <a:solidFill>
                <a:srgbClr val="000000"/>
              </a:solidFill>
              <a:effectLst/>
              <a:uFillTx/>
              <a:latin typeface="OpenSymbol"/>
            </a:endParaRPr>
          </a:p>
        </p:txBody>
      </p:sp>
      <p:sp>
        <p:nvSpPr>
          <p:cNvPr id="2" name="TextBox 1">
            <a:extLst>
              <a:ext uri="{FF2B5EF4-FFF2-40B4-BE49-F238E27FC236}">
                <a16:creationId xmlns:a16="http://schemas.microsoft.com/office/drawing/2014/main" id="{A31D25A9-9E06-57A8-73A5-A0DACCDA5DE1}"/>
              </a:ext>
            </a:extLst>
          </p:cNvPr>
          <p:cNvSpPr txBox="1"/>
          <p:nvPr/>
        </p:nvSpPr>
        <p:spPr>
          <a:xfrm>
            <a:off x="667910" y="261549"/>
            <a:ext cx="7863841" cy="523220"/>
          </a:xfrm>
          <a:prstGeom prst="rect">
            <a:avLst/>
          </a:prstGeom>
          <a:noFill/>
        </p:spPr>
        <p:txBody>
          <a:bodyPr wrap="square" rtlCol="0">
            <a:spAutoFit/>
          </a:bodyPr>
          <a:lstStyle/>
          <a:p>
            <a:r>
              <a:rPr lang="en-US" sz="2800" b="1" dirty="0">
                <a:effectLst>
                  <a:outerShdw blurRad="38100" dist="38100" dir="2700000" algn="tl">
                    <a:srgbClr val="000000">
                      <a:alpha val="43137"/>
                    </a:srgbClr>
                  </a:outerShdw>
                </a:effectLst>
              </a:rPr>
              <a:t>Submit Request : </a:t>
            </a:r>
            <a:r>
              <a:rPr lang="en-US" dirty="0"/>
              <a:t>there is a flow (request lifecycle manage this)</a:t>
            </a:r>
            <a:endParaRPr lang="en-US" sz="2800" b="1" dirty="0">
              <a:effectLst>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01CF64E3-1095-BC6C-B59E-377C390D85D7}"/>
              </a:ext>
            </a:extLst>
          </p:cNvPr>
          <p:cNvSpPr txBox="1"/>
          <p:nvPr/>
        </p:nvSpPr>
        <p:spPr>
          <a:xfrm>
            <a:off x="921215" y="916008"/>
            <a:ext cx="5647700" cy="369332"/>
          </a:xfrm>
          <a:prstGeom prst="rect">
            <a:avLst/>
          </a:prstGeom>
          <a:noFill/>
        </p:spPr>
        <p:txBody>
          <a:bodyPr wrap="none" rtlCol="0">
            <a:spAutoFit/>
          </a:bodyPr>
          <a:lstStyle/>
          <a:p>
            <a:r>
              <a:rPr lang="en-US" dirty="0"/>
              <a:t>Is a Record Producer using cs_catalog OOTB Widget</a:t>
            </a:r>
          </a:p>
        </p:txBody>
      </p:sp>
      <p:pic>
        <p:nvPicPr>
          <p:cNvPr id="5" name="Picture 4">
            <a:extLst>
              <a:ext uri="{FF2B5EF4-FFF2-40B4-BE49-F238E27FC236}">
                <a16:creationId xmlns:a16="http://schemas.microsoft.com/office/drawing/2014/main" id="{5A694C31-754E-97EB-6544-9B9DECB6D42E}"/>
              </a:ext>
            </a:extLst>
          </p:cNvPr>
          <p:cNvPicPr>
            <a:picLocks noChangeAspect="1"/>
          </p:cNvPicPr>
          <p:nvPr/>
        </p:nvPicPr>
        <p:blipFill>
          <a:blip r:embed="rId2"/>
          <a:stretch>
            <a:fillRect/>
          </a:stretch>
        </p:blipFill>
        <p:spPr>
          <a:xfrm>
            <a:off x="1391479" y="1993463"/>
            <a:ext cx="5486682" cy="2425825"/>
          </a:xfrm>
          <a:prstGeom prst="rect">
            <a:avLst/>
          </a:prstGeom>
        </p:spPr>
      </p:pic>
      <p:sp>
        <p:nvSpPr>
          <p:cNvPr id="6" name="TextBox 5">
            <a:extLst>
              <a:ext uri="{FF2B5EF4-FFF2-40B4-BE49-F238E27FC236}">
                <a16:creationId xmlns:a16="http://schemas.microsoft.com/office/drawing/2014/main" id="{89EB4E3B-BA2A-7C8B-7AB4-54360EFD3D51}"/>
              </a:ext>
            </a:extLst>
          </p:cNvPr>
          <p:cNvSpPr txBox="1"/>
          <p:nvPr/>
        </p:nvSpPr>
        <p:spPr>
          <a:xfrm>
            <a:off x="921215" y="1624131"/>
            <a:ext cx="7610536" cy="369332"/>
          </a:xfrm>
          <a:prstGeom prst="rect">
            <a:avLst/>
          </a:prstGeom>
          <a:noFill/>
        </p:spPr>
        <p:txBody>
          <a:bodyPr wrap="square" rtlCol="0">
            <a:spAutoFit/>
          </a:bodyPr>
          <a:lstStyle/>
          <a:p>
            <a:r>
              <a:rPr lang="en-US" dirty="0">
                <a:solidFill>
                  <a:schemeClr val="bg1">
                    <a:lumMod val="10000"/>
                  </a:schemeClr>
                </a:solidFill>
              </a:rPr>
              <a:t>Client Script (OnChange) on record producer to show the Requirements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26ECB-64F3-4EE8-506C-9712AD318E6B}"/>
            </a:ext>
          </a:extLst>
        </p:cNvPr>
        <p:cNvGrpSpPr/>
        <p:nvPr/>
      </p:nvGrpSpPr>
      <p:grpSpPr>
        <a:xfrm>
          <a:off x="0" y="0"/>
          <a:ext cx="0" cy="0"/>
          <a:chOff x="0" y="0"/>
          <a:chExt cx="0" cy="0"/>
        </a:xfrm>
      </p:grpSpPr>
      <p:sp>
        <p:nvSpPr>
          <p:cNvPr id="43" name="Rectangle 42">
            <a:extLst>
              <a:ext uri="{FF2B5EF4-FFF2-40B4-BE49-F238E27FC236}">
                <a16:creationId xmlns:a16="http://schemas.microsoft.com/office/drawing/2014/main" id="{A8D0D4B5-0648-321E-8F30-3052A3637B5B}"/>
              </a:ext>
            </a:extLst>
          </p:cNvPr>
          <p:cNvSpPr/>
          <p:nvPr/>
        </p:nvSpPr>
        <p:spPr>
          <a:xfrm>
            <a:off x="6001654" y="2071629"/>
            <a:ext cx="1989407"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0" u="none" strike="noStrike" dirty="0">
                <a:solidFill>
                  <a:srgbClr val="000000"/>
                </a:solidFill>
                <a:effectLst/>
                <a:uFillTx/>
                <a:latin typeface="OpenSymbol"/>
              </a:rPr>
              <a:t>Approval Button</a:t>
            </a:r>
          </a:p>
        </p:txBody>
      </p:sp>
      <p:sp>
        <p:nvSpPr>
          <p:cNvPr id="4" name="TextBox 3">
            <a:extLst>
              <a:ext uri="{FF2B5EF4-FFF2-40B4-BE49-F238E27FC236}">
                <a16:creationId xmlns:a16="http://schemas.microsoft.com/office/drawing/2014/main" id="{DCA9E744-F4D2-842F-5DD4-4B7609AE53F4}"/>
              </a:ext>
            </a:extLst>
          </p:cNvPr>
          <p:cNvSpPr txBox="1"/>
          <p:nvPr/>
        </p:nvSpPr>
        <p:spPr>
          <a:xfrm>
            <a:off x="594766" y="238900"/>
            <a:ext cx="6076377" cy="523220"/>
          </a:xfrm>
          <a:prstGeom prst="rect">
            <a:avLst/>
          </a:prstGeom>
          <a:noFill/>
        </p:spPr>
        <p:txBody>
          <a:bodyPr wrap="square" rtlCol="0">
            <a:spAutoFit/>
          </a:bodyPr>
          <a:lstStyle/>
          <a:p>
            <a:r>
              <a:rPr lang="en-US" sz="2800" b="1" u="sng" dirty="0">
                <a:effectLst>
                  <a:outerShdw blurRad="38100" dist="38100" dir="2700000" algn="tl">
                    <a:srgbClr val="000000">
                      <a:alpha val="43137"/>
                    </a:srgbClr>
                  </a:outerShdw>
                </a:effectLst>
              </a:rPr>
              <a:t>Agent &amp; Manager Side:</a:t>
            </a:r>
          </a:p>
        </p:txBody>
      </p:sp>
      <p:sp>
        <p:nvSpPr>
          <p:cNvPr id="7" name="TextBox 6">
            <a:extLst>
              <a:ext uri="{FF2B5EF4-FFF2-40B4-BE49-F238E27FC236}">
                <a16:creationId xmlns:a16="http://schemas.microsoft.com/office/drawing/2014/main" id="{AB2D7CBD-67A9-AAC0-884F-DEB9A74219B0}"/>
              </a:ext>
            </a:extLst>
          </p:cNvPr>
          <p:cNvSpPr txBox="1"/>
          <p:nvPr/>
        </p:nvSpPr>
        <p:spPr>
          <a:xfrm>
            <a:off x="658376" y="993972"/>
            <a:ext cx="2275655" cy="369332"/>
          </a:xfrm>
          <a:prstGeom prst="rect">
            <a:avLst/>
          </a:prstGeom>
          <a:noFill/>
        </p:spPr>
        <p:txBody>
          <a:bodyPr wrap="square" rtlCol="0">
            <a:spAutoFit/>
          </a:bodyPr>
          <a:lstStyle/>
          <a:p>
            <a:r>
              <a:rPr lang="en-US" dirty="0">
                <a:solidFill>
                  <a:schemeClr val="bg1">
                    <a:lumMod val="10000"/>
                  </a:schemeClr>
                </a:solidFill>
              </a:rPr>
              <a:t>UI Action Buttons:</a:t>
            </a:r>
          </a:p>
        </p:txBody>
      </p:sp>
      <p:pic>
        <p:nvPicPr>
          <p:cNvPr id="11" name="Picture 10">
            <a:extLst>
              <a:ext uri="{FF2B5EF4-FFF2-40B4-BE49-F238E27FC236}">
                <a16:creationId xmlns:a16="http://schemas.microsoft.com/office/drawing/2014/main" id="{8ACAE9A6-071E-067E-47C6-0E3A9C9BC5AC}"/>
              </a:ext>
            </a:extLst>
          </p:cNvPr>
          <p:cNvPicPr>
            <a:picLocks noChangeAspect="1"/>
          </p:cNvPicPr>
          <p:nvPr/>
        </p:nvPicPr>
        <p:blipFill>
          <a:blip r:embed="rId2"/>
          <a:stretch>
            <a:fillRect/>
          </a:stretch>
        </p:blipFill>
        <p:spPr>
          <a:xfrm>
            <a:off x="618619" y="3218574"/>
            <a:ext cx="5040630" cy="1649023"/>
          </a:xfrm>
          <a:prstGeom prst="rect">
            <a:avLst/>
          </a:prstGeom>
        </p:spPr>
      </p:pic>
      <p:sp>
        <p:nvSpPr>
          <p:cNvPr id="12" name="Rectangle 11">
            <a:extLst>
              <a:ext uri="{FF2B5EF4-FFF2-40B4-BE49-F238E27FC236}">
                <a16:creationId xmlns:a16="http://schemas.microsoft.com/office/drawing/2014/main" id="{58CDBC30-0677-B8DA-0E64-C67B2BE66151}"/>
              </a:ext>
            </a:extLst>
          </p:cNvPr>
          <p:cNvSpPr/>
          <p:nvPr/>
        </p:nvSpPr>
        <p:spPr>
          <a:xfrm>
            <a:off x="5804197" y="3681646"/>
            <a:ext cx="1989407"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0" u="none" strike="noStrike" dirty="0">
                <a:solidFill>
                  <a:srgbClr val="000000"/>
                </a:solidFill>
                <a:effectLst/>
                <a:uFillTx/>
                <a:latin typeface="OpenSymbol"/>
              </a:rPr>
              <a:t>Rejection Button</a:t>
            </a:r>
          </a:p>
        </p:txBody>
      </p:sp>
      <p:pic>
        <p:nvPicPr>
          <p:cNvPr id="14" name="Picture 13">
            <a:extLst>
              <a:ext uri="{FF2B5EF4-FFF2-40B4-BE49-F238E27FC236}">
                <a16:creationId xmlns:a16="http://schemas.microsoft.com/office/drawing/2014/main" id="{03FE87FA-85FA-89B7-2B2C-448801FC9325}"/>
              </a:ext>
            </a:extLst>
          </p:cNvPr>
          <p:cNvPicPr>
            <a:picLocks noChangeAspect="1"/>
          </p:cNvPicPr>
          <p:nvPr/>
        </p:nvPicPr>
        <p:blipFill>
          <a:blip r:embed="rId3"/>
          <a:stretch>
            <a:fillRect/>
          </a:stretch>
        </p:blipFill>
        <p:spPr>
          <a:xfrm>
            <a:off x="594766" y="1363304"/>
            <a:ext cx="5416828" cy="1778091"/>
          </a:xfrm>
          <a:prstGeom prst="rect">
            <a:avLst/>
          </a:prstGeom>
        </p:spPr>
      </p:pic>
    </p:spTree>
    <p:extLst>
      <p:ext uri="{BB962C8B-B14F-4D97-AF65-F5344CB8AC3E}">
        <p14:creationId xmlns:p14="http://schemas.microsoft.com/office/powerpoint/2010/main" val="31967455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96845-4B5B-EF4C-3032-F0F6AB7F0DA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F6C4990-9BD3-0FF8-0FE3-FD89008C24F2}"/>
              </a:ext>
            </a:extLst>
          </p:cNvPr>
          <p:cNvSpPr txBox="1"/>
          <p:nvPr/>
        </p:nvSpPr>
        <p:spPr>
          <a:xfrm>
            <a:off x="594766" y="238900"/>
            <a:ext cx="6076377" cy="523220"/>
          </a:xfrm>
          <a:prstGeom prst="rect">
            <a:avLst/>
          </a:prstGeom>
          <a:noFill/>
        </p:spPr>
        <p:txBody>
          <a:bodyPr wrap="square" rtlCol="0">
            <a:spAutoFit/>
          </a:bodyPr>
          <a:lstStyle/>
          <a:p>
            <a:r>
              <a:rPr lang="en-US" sz="2800" b="1" u="sng" dirty="0">
                <a:effectLst>
                  <a:outerShdw blurRad="38100" dist="38100" dir="2700000" algn="tl">
                    <a:srgbClr val="000000">
                      <a:alpha val="43137"/>
                    </a:srgbClr>
                  </a:outerShdw>
                </a:effectLst>
              </a:rPr>
              <a:t>Agent &amp; Manager Side:</a:t>
            </a:r>
          </a:p>
        </p:txBody>
      </p:sp>
      <p:sp>
        <p:nvSpPr>
          <p:cNvPr id="7" name="TextBox 6">
            <a:extLst>
              <a:ext uri="{FF2B5EF4-FFF2-40B4-BE49-F238E27FC236}">
                <a16:creationId xmlns:a16="http://schemas.microsoft.com/office/drawing/2014/main" id="{9BD98851-6BEC-77C4-FEFE-CAA7A54757C8}"/>
              </a:ext>
            </a:extLst>
          </p:cNvPr>
          <p:cNvSpPr txBox="1"/>
          <p:nvPr/>
        </p:nvSpPr>
        <p:spPr>
          <a:xfrm>
            <a:off x="658376" y="993972"/>
            <a:ext cx="7269074" cy="369332"/>
          </a:xfrm>
          <a:prstGeom prst="rect">
            <a:avLst/>
          </a:prstGeom>
          <a:noFill/>
        </p:spPr>
        <p:txBody>
          <a:bodyPr wrap="square" rtlCol="0">
            <a:spAutoFit/>
          </a:bodyPr>
          <a:lstStyle/>
          <a:p>
            <a:r>
              <a:rPr lang="en-US" dirty="0">
                <a:solidFill>
                  <a:schemeClr val="bg1">
                    <a:lumMod val="10000"/>
                  </a:schemeClr>
                </a:solidFill>
              </a:rPr>
              <a:t>UI Action Buttons: there is a hierarchy approval for </a:t>
            </a:r>
            <a:r>
              <a:rPr lang="en-US" b="1" dirty="0">
                <a:solidFill>
                  <a:schemeClr val="bg1">
                    <a:lumMod val="10000"/>
                  </a:schemeClr>
                </a:solidFill>
              </a:rPr>
              <a:t>Business</a:t>
            </a:r>
            <a:r>
              <a:rPr lang="en-US" dirty="0">
                <a:solidFill>
                  <a:schemeClr val="bg1">
                    <a:lumMod val="10000"/>
                  </a:schemeClr>
                </a:solidFill>
              </a:rPr>
              <a:t> </a:t>
            </a:r>
            <a:r>
              <a:rPr lang="en-US" b="1" dirty="0">
                <a:solidFill>
                  <a:schemeClr val="bg1">
                    <a:lumMod val="10000"/>
                  </a:schemeClr>
                </a:solidFill>
              </a:rPr>
              <a:t>Permit</a:t>
            </a:r>
          </a:p>
        </p:txBody>
      </p:sp>
      <p:pic>
        <p:nvPicPr>
          <p:cNvPr id="3" name="Picture 2">
            <a:extLst>
              <a:ext uri="{FF2B5EF4-FFF2-40B4-BE49-F238E27FC236}">
                <a16:creationId xmlns:a16="http://schemas.microsoft.com/office/drawing/2014/main" id="{9C38D509-9970-309A-EC1E-9D3C21DF9DFF}"/>
              </a:ext>
            </a:extLst>
          </p:cNvPr>
          <p:cNvPicPr>
            <a:picLocks noChangeAspect="1"/>
          </p:cNvPicPr>
          <p:nvPr/>
        </p:nvPicPr>
        <p:blipFill>
          <a:blip r:embed="rId2"/>
          <a:stretch>
            <a:fillRect/>
          </a:stretch>
        </p:blipFill>
        <p:spPr>
          <a:xfrm>
            <a:off x="594766" y="1917415"/>
            <a:ext cx="5448580" cy="1720938"/>
          </a:xfrm>
          <a:prstGeom prst="rect">
            <a:avLst/>
          </a:prstGeom>
        </p:spPr>
      </p:pic>
      <p:sp>
        <p:nvSpPr>
          <p:cNvPr id="5" name="TextBox 4">
            <a:extLst>
              <a:ext uri="{FF2B5EF4-FFF2-40B4-BE49-F238E27FC236}">
                <a16:creationId xmlns:a16="http://schemas.microsoft.com/office/drawing/2014/main" id="{C45621D8-E23B-C5FD-3F17-04BCCB0FA655}"/>
              </a:ext>
            </a:extLst>
          </p:cNvPr>
          <p:cNvSpPr txBox="1"/>
          <p:nvPr/>
        </p:nvSpPr>
        <p:spPr>
          <a:xfrm>
            <a:off x="5979382" y="2608607"/>
            <a:ext cx="2965836" cy="338554"/>
          </a:xfrm>
          <a:prstGeom prst="rect">
            <a:avLst/>
          </a:prstGeom>
          <a:noFill/>
        </p:spPr>
        <p:txBody>
          <a:bodyPr wrap="square" rtlCol="0">
            <a:spAutoFit/>
          </a:bodyPr>
          <a:lstStyle/>
          <a:p>
            <a:r>
              <a:rPr lang="en-US" sz="1600" dirty="0"/>
              <a:t>Escalate To Manager Button</a:t>
            </a:r>
          </a:p>
        </p:txBody>
      </p:sp>
    </p:spTree>
    <p:extLst>
      <p:ext uri="{BB962C8B-B14F-4D97-AF65-F5344CB8AC3E}">
        <p14:creationId xmlns:p14="http://schemas.microsoft.com/office/powerpoint/2010/main" val="28204629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B937F-5822-E6DA-9580-DD4587681C6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8D985A1-A6E5-94C4-2479-4ED51856EAD2}"/>
              </a:ext>
            </a:extLst>
          </p:cNvPr>
          <p:cNvSpPr txBox="1"/>
          <p:nvPr/>
        </p:nvSpPr>
        <p:spPr>
          <a:xfrm>
            <a:off x="594766" y="238900"/>
            <a:ext cx="6076377" cy="523220"/>
          </a:xfrm>
          <a:prstGeom prst="rect">
            <a:avLst/>
          </a:prstGeom>
          <a:noFill/>
        </p:spPr>
        <p:txBody>
          <a:bodyPr wrap="square" rtlCol="0">
            <a:spAutoFit/>
          </a:bodyPr>
          <a:lstStyle/>
          <a:p>
            <a:r>
              <a:rPr lang="en-US" sz="2800" b="1" u="sng" dirty="0">
                <a:effectLst>
                  <a:outerShdw blurRad="38100" dist="38100" dir="2700000" algn="tl">
                    <a:srgbClr val="000000">
                      <a:alpha val="43137"/>
                    </a:srgbClr>
                  </a:outerShdw>
                </a:effectLst>
              </a:rPr>
              <a:t>Agent &amp; Manager Side:</a:t>
            </a:r>
          </a:p>
        </p:txBody>
      </p:sp>
      <p:sp>
        <p:nvSpPr>
          <p:cNvPr id="7" name="TextBox 6">
            <a:extLst>
              <a:ext uri="{FF2B5EF4-FFF2-40B4-BE49-F238E27FC236}">
                <a16:creationId xmlns:a16="http://schemas.microsoft.com/office/drawing/2014/main" id="{7D4464B0-BFFF-4D4D-7A19-360316D5F900}"/>
              </a:ext>
            </a:extLst>
          </p:cNvPr>
          <p:cNvSpPr txBox="1"/>
          <p:nvPr/>
        </p:nvSpPr>
        <p:spPr>
          <a:xfrm>
            <a:off x="658376" y="993972"/>
            <a:ext cx="7269074" cy="369332"/>
          </a:xfrm>
          <a:prstGeom prst="rect">
            <a:avLst/>
          </a:prstGeom>
          <a:noFill/>
        </p:spPr>
        <p:txBody>
          <a:bodyPr wrap="square" rtlCol="0">
            <a:spAutoFit/>
          </a:bodyPr>
          <a:lstStyle/>
          <a:p>
            <a:r>
              <a:rPr lang="en-US" dirty="0">
                <a:solidFill>
                  <a:schemeClr val="bg1">
                    <a:lumMod val="10000"/>
                  </a:schemeClr>
                </a:solidFill>
              </a:rPr>
              <a:t>UI Action Buttons: there is a hierarchy approval for </a:t>
            </a:r>
            <a:r>
              <a:rPr lang="en-US" b="1" dirty="0">
                <a:solidFill>
                  <a:schemeClr val="bg1">
                    <a:lumMod val="10000"/>
                  </a:schemeClr>
                </a:solidFill>
              </a:rPr>
              <a:t>Business</a:t>
            </a:r>
            <a:r>
              <a:rPr lang="en-US" dirty="0">
                <a:solidFill>
                  <a:schemeClr val="bg1">
                    <a:lumMod val="10000"/>
                  </a:schemeClr>
                </a:solidFill>
              </a:rPr>
              <a:t> </a:t>
            </a:r>
            <a:r>
              <a:rPr lang="en-US" b="1" dirty="0">
                <a:solidFill>
                  <a:schemeClr val="bg1">
                    <a:lumMod val="10000"/>
                  </a:schemeClr>
                </a:solidFill>
              </a:rPr>
              <a:t>Permit</a:t>
            </a:r>
          </a:p>
        </p:txBody>
      </p:sp>
      <p:pic>
        <p:nvPicPr>
          <p:cNvPr id="8" name="Picture 7">
            <a:extLst>
              <a:ext uri="{FF2B5EF4-FFF2-40B4-BE49-F238E27FC236}">
                <a16:creationId xmlns:a16="http://schemas.microsoft.com/office/drawing/2014/main" id="{9102ADE1-9450-7E5A-723F-99F376232FD3}"/>
              </a:ext>
            </a:extLst>
          </p:cNvPr>
          <p:cNvPicPr>
            <a:picLocks noChangeAspect="1"/>
          </p:cNvPicPr>
          <p:nvPr/>
        </p:nvPicPr>
        <p:blipFill>
          <a:blip r:embed="rId2"/>
          <a:stretch>
            <a:fillRect/>
          </a:stretch>
        </p:blipFill>
        <p:spPr>
          <a:xfrm>
            <a:off x="563753" y="1341235"/>
            <a:ext cx="4398653" cy="1960341"/>
          </a:xfrm>
          <a:prstGeom prst="rect">
            <a:avLst/>
          </a:prstGeom>
        </p:spPr>
      </p:pic>
      <p:sp>
        <p:nvSpPr>
          <p:cNvPr id="2" name="TextBox 1">
            <a:extLst>
              <a:ext uri="{FF2B5EF4-FFF2-40B4-BE49-F238E27FC236}">
                <a16:creationId xmlns:a16="http://schemas.microsoft.com/office/drawing/2014/main" id="{CCCCE857-D6D5-E227-4678-FC271077DF25}"/>
              </a:ext>
            </a:extLst>
          </p:cNvPr>
          <p:cNvSpPr txBox="1"/>
          <p:nvPr/>
        </p:nvSpPr>
        <p:spPr>
          <a:xfrm>
            <a:off x="4993419" y="1852654"/>
            <a:ext cx="3164619" cy="369332"/>
          </a:xfrm>
          <a:prstGeom prst="rect">
            <a:avLst/>
          </a:prstGeom>
          <a:noFill/>
        </p:spPr>
        <p:txBody>
          <a:bodyPr wrap="square" rtlCol="0">
            <a:spAutoFit/>
          </a:bodyPr>
          <a:lstStyle/>
          <a:p>
            <a:r>
              <a:rPr lang="en-US" dirty="0"/>
              <a:t>Manager Approve Request</a:t>
            </a:r>
          </a:p>
        </p:txBody>
      </p:sp>
      <p:pic>
        <p:nvPicPr>
          <p:cNvPr id="9" name="Picture 8">
            <a:extLst>
              <a:ext uri="{FF2B5EF4-FFF2-40B4-BE49-F238E27FC236}">
                <a16:creationId xmlns:a16="http://schemas.microsoft.com/office/drawing/2014/main" id="{F0A8839C-DEC4-9A45-A5AD-27ACCE165445}"/>
              </a:ext>
            </a:extLst>
          </p:cNvPr>
          <p:cNvPicPr>
            <a:picLocks noChangeAspect="1"/>
          </p:cNvPicPr>
          <p:nvPr/>
        </p:nvPicPr>
        <p:blipFill>
          <a:blip r:embed="rId3"/>
          <a:stretch>
            <a:fillRect/>
          </a:stretch>
        </p:blipFill>
        <p:spPr>
          <a:xfrm>
            <a:off x="4118776" y="2772127"/>
            <a:ext cx="4461471" cy="1984875"/>
          </a:xfrm>
          <a:prstGeom prst="rect">
            <a:avLst/>
          </a:prstGeom>
        </p:spPr>
      </p:pic>
      <p:sp>
        <p:nvSpPr>
          <p:cNvPr id="10" name="TextBox 9">
            <a:extLst>
              <a:ext uri="{FF2B5EF4-FFF2-40B4-BE49-F238E27FC236}">
                <a16:creationId xmlns:a16="http://schemas.microsoft.com/office/drawing/2014/main" id="{5B6FEE46-3A14-5330-AE6C-87F009DCCE46}"/>
              </a:ext>
            </a:extLst>
          </p:cNvPr>
          <p:cNvSpPr txBox="1"/>
          <p:nvPr/>
        </p:nvSpPr>
        <p:spPr>
          <a:xfrm>
            <a:off x="875969" y="3659957"/>
            <a:ext cx="3164619" cy="369332"/>
          </a:xfrm>
          <a:prstGeom prst="rect">
            <a:avLst/>
          </a:prstGeom>
          <a:noFill/>
        </p:spPr>
        <p:txBody>
          <a:bodyPr wrap="square" rtlCol="0">
            <a:spAutoFit/>
          </a:bodyPr>
          <a:lstStyle/>
          <a:p>
            <a:r>
              <a:rPr lang="en-US" dirty="0"/>
              <a:t>Manager Reject Request</a:t>
            </a:r>
          </a:p>
        </p:txBody>
      </p:sp>
    </p:spTree>
    <p:extLst>
      <p:ext uri="{BB962C8B-B14F-4D97-AF65-F5344CB8AC3E}">
        <p14:creationId xmlns:p14="http://schemas.microsoft.com/office/powerpoint/2010/main" val="2239015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4732F-0E27-E93E-34CA-B8F7259CA8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8DE48AF-6F21-E96E-975D-8BF6E24212B5}"/>
              </a:ext>
            </a:extLst>
          </p:cNvPr>
          <p:cNvSpPr txBox="1"/>
          <p:nvPr/>
        </p:nvSpPr>
        <p:spPr>
          <a:xfrm>
            <a:off x="691764" y="381662"/>
            <a:ext cx="4301656" cy="400110"/>
          </a:xfrm>
          <a:prstGeom prst="rect">
            <a:avLst/>
          </a:prstGeom>
          <a:noFill/>
        </p:spPr>
        <p:txBody>
          <a:bodyPr wrap="square" rtlCol="0">
            <a:spAutoFit/>
          </a:bodyPr>
          <a:lstStyle/>
          <a:p>
            <a:r>
              <a:rPr lang="en-US" sz="2000" b="1" u="sng" dirty="0">
                <a:effectLst>
                  <a:outerShdw blurRad="38100" dist="38100" dir="2700000" algn="tl">
                    <a:srgbClr val="000000">
                      <a:alpha val="43137"/>
                    </a:srgbClr>
                  </a:outerShdw>
                </a:effectLst>
              </a:rPr>
              <a:t>If the Request Approved:</a:t>
            </a:r>
          </a:p>
        </p:txBody>
      </p:sp>
      <p:sp>
        <p:nvSpPr>
          <p:cNvPr id="4" name="TextBox 3">
            <a:extLst>
              <a:ext uri="{FF2B5EF4-FFF2-40B4-BE49-F238E27FC236}">
                <a16:creationId xmlns:a16="http://schemas.microsoft.com/office/drawing/2014/main" id="{42DAE887-BF39-5B9A-3FAC-02FE1BC1F6B2}"/>
              </a:ext>
            </a:extLst>
          </p:cNvPr>
          <p:cNvSpPr txBox="1"/>
          <p:nvPr/>
        </p:nvSpPr>
        <p:spPr>
          <a:xfrm>
            <a:off x="4015409" y="412440"/>
            <a:ext cx="3204376" cy="369332"/>
          </a:xfrm>
          <a:prstGeom prst="rect">
            <a:avLst/>
          </a:prstGeom>
          <a:noFill/>
        </p:spPr>
        <p:txBody>
          <a:bodyPr wrap="square" rtlCol="0">
            <a:spAutoFit/>
          </a:bodyPr>
          <a:lstStyle/>
          <a:p>
            <a:r>
              <a:rPr lang="en-US" dirty="0"/>
              <a:t>(Appointment Lifecycle)</a:t>
            </a:r>
          </a:p>
        </p:txBody>
      </p:sp>
      <p:sp>
        <p:nvSpPr>
          <p:cNvPr id="5" name="TextBox 4">
            <a:extLst>
              <a:ext uri="{FF2B5EF4-FFF2-40B4-BE49-F238E27FC236}">
                <a16:creationId xmlns:a16="http://schemas.microsoft.com/office/drawing/2014/main" id="{A90E2F96-D699-4C02-3DD2-D451240CBE5B}"/>
              </a:ext>
            </a:extLst>
          </p:cNvPr>
          <p:cNvSpPr txBox="1"/>
          <p:nvPr/>
        </p:nvSpPr>
        <p:spPr>
          <a:xfrm>
            <a:off x="914400" y="1065475"/>
            <a:ext cx="6885830" cy="369332"/>
          </a:xfrm>
          <a:prstGeom prst="rect">
            <a:avLst/>
          </a:prstGeom>
          <a:noFill/>
        </p:spPr>
        <p:txBody>
          <a:bodyPr wrap="square" rtlCol="0">
            <a:spAutoFit/>
          </a:bodyPr>
          <a:lstStyle/>
          <a:p>
            <a:r>
              <a:rPr lang="en-US" dirty="0"/>
              <a:t>BR: prevent  putting an old date  (before insert &amp; update)</a:t>
            </a:r>
          </a:p>
        </p:txBody>
      </p:sp>
      <p:pic>
        <p:nvPicPr>
          <p:cNvPr id="7" name="Picture 6">
            <a:extLst>
              <a:ext uri="{FF2B5EF4-FFF2-40B4-BE49-F238E27FC236}">
                <a16:creationId xmlns:a16="http://schemas.microsoft.com/office/drawing/2014/main" id="{E2966DE9-6E6D-1C52-8453-5B07DC88C52B}"/>
              </a:ext>
            </a:extLst>
          </p:cNvPr>
          <p:cNvPicPr>
            <a:picLocks noChangeAspect="1"/>
          </p:cNvPicPr>
          <p:nvPr/>
        </p:nvPicPr>
        <p:blipFill>
          <a:blip r:embed="rId2"/>
          <a:stretch>
            <a:fillRect/>
          </a:stretch>
        </p:blipFill>
        <p:spPr>
          <a:xfrm>
            <a:off x="817852" y="1434807"/>
            <a:ext cx="4311872" cy="1409772"/>
          </a:xfrm>
          <a:prstGeom prst="rect">
            <a:avLst/>
          </a:prstGeom>
        </p:spPr>
      </p:pic>
      <p:sp>
        <p:nvSpPr>
          <p:cNvPr id="8" name="TextBox 7">
            <a:extLst>
              <a:ext uri="{FF2B5EF4-FFF2-40B4-BE49-F238E27FC236}">
                <a16:creationId xmlns:a16="http://schemas.microsoft.com/office/drawing/2014/main" id="{AE76CE0D-CCCC-7B00-8CA5-4E68ACC744AB}"/>
              </a:ext>
            </a:extLst>
          </p:cNvPr>
          <p:cNvSpPr txBox="1"/>
          <p:nvPr/>
        </p:nvSpPr>
        <p:spPr>
          <a:xfrm>
            <a:off x="803083" y="2844579"/>
            <a:ext cx="5756744" cy="369332"/>
          </a:xfrm>
          <a:prstGeom prst="rect">
            <a:avLst/>
          </a:prstGeom>
          <a:noFill/>
        </p:spPr>
        <p:txBody>
          <a:bodyPr wrap="square" rtlCol="0">
            <a:spAutoFit/>
          </a:bodyPr>
          <a:lstStyle/>
          <a:p>
            <a:r>
              <a:rPr lang="en-US" dirty="0"/>
              <a:t>BR: Available time slots (before insert &amp; update)</a:t>
            </a:r>
          </a:p>
        </p:txBody>
      </p:sp>
      <p:pic>
        <p:nvPicPr>
          <p:cNvPr id="12" name="Picture 11">
            <a:extLst>
              <a:ext uri="{FF2B5EF4-FFF2-40B4-BE49-F238E27FC236}">
                <a16:creationId xmlns:a16="http://schemas.microsoft.com/office/drawing/2014/main" id="{D03EE2ED-924E-FB9B-ECE1-0E55EF5D30EE}"/>
              </a:ext>
            </a:extLst>
          </p:cNvPr>
          <p:cNvPicPr>
            <a:picLocks noChangeAspect="1"/>
          </p:cNvPicPr>
          <p:nvPr/>
        </p:nvPicPr>
        <p:blipFill>
          <a:blip r:embed="rId3"/>
          <a:stretch>
            <a:fillRect/>
          </a:stretch>
        </p:blipFill>
        <p:spPr>
          <a:xfrm>
            <a:off x="781911" y="3213911"/>
            <a:ext cx="4121362" cy="1492327"/>
          </a:xfrm>
          <a:prstGeom prst="rect">
            <a:avLst/>
          </a:prstGeom>
        </p:spPr>
      </p:pic>
    </p:spTree>
    <p:extLst>
      <p:ext uri="{BB962C8B-B14F-4D97-AF65-F5344CB8AC3E}">
        <p14:creationId xmlns:p14="http://schemas.microsoft.com/office/powerpoint/2010/main" val="412634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02EB5-BAED-DE18-835B-BBE69A74E1FF}"/>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B68540D6-35B4-885E-33BE-0A3EE59B36DC}"/>
              </a:ext>
            </a:extLst>
          </p:cNvPr>
          <p:cNvSpPr/>
          <p:nvPr/>
        </p:nvSpPr>
        <p:spPr>
          <a:xfrm>
            <a:off x="2111767" y="444769"/>
            <a:ext cx="1764469" cy="641185"/>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3600" dirty="0">
                <a:solidFill>
                  <a:srgbClr val="034A9E"/>
                </a:solidFill>
                <a:latin typeface="Montserrat"/>
              </a:rPr>
              <a:t>	MAP</a:t>
            </a:r>
            <a:endParaRPr lang="en-US" sz="3600" b="0" u="none" strike="noStrike" dirty="0">
              <a:solidFill>
                <a:srgbClr val="000000"/>
              </a:solidFill>
              <a:effectLst/>
              <a:uFillTx/>
              <a:latin typeface="OpenSymbol"/>
            </a:endParaRPr>
          </a:p>
        </p:txBody>
      </p:sp>
      <p:sp>
        <p:nvSpPr>
          <p:cNvPr id="2" name="Explosion: 8 Points 1">
            <a:extLst>
              <a:ext uri="{FF2B5EF4-FFF2-40B4-BE49-F238E27FC236}">
                <a16:creationId xmlns:a16="http://schemas.microsoft.com/office/drawing/2014/main" id="{66359997-E10A-045F-881F-9ABAD3264C3E}"/>
              </a:ext>
            </a:extLst>
          </p:cNvPr>
          <p:cNvSpPr/>
          <p:nvPr/>
        </p:nvSpPr>
        <p:spPr>
          <a:xfrm>
            <a:off x="428928" y="996505"/>
            <a:ext cx="2059388" cy="1192696"/>
          </a:xfrm>
          <a:prstGeom prst="irregularSeal1">
            <a:avLst/>
          </a:prstGeom>
          <a:solidFill>
            <a:srgbClr val="00B050"/>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solidFill>
                  <a:schemeClr val="tx1"/>
                </a:solidFill>
              </a:rPr>
              <a:t>Phase 1</a:t>
            </a:r>
          </a:p>
        </p:txBody>
      </p:sp>
      <p:cxnSp>
        <p:nvCxnSpPr>
          <p:cNvPr id="10" name="Connector: Elbow 9">
            <a:extLst>
              <a:ext uri="{FF2B5EF4-FFF2-40B4-BE49-F238E27FC236}">
                <a16:creationId xmlns:a16="http://schemas.microsoft.com/office/drawing/2014/main" id="{EB2EFD43-5AC8-93FC-C45E-A515F3C9B29E}"/>
              </a:ext>
            </a:extLst>
          </p:cNvPr>
          <p:cNvCxnSpPr>
            <a:cxnSpLocks/>
            <a:stCxn id="2" idx="2"/>
          </p:cNvCxnSpPr>
          <p:nvPr/>
        </p:nvCxnSpPr>
        <p:spPr>
          <a:xfrm rot="16200000" flipH="1">
            <a:off x="1168666" y="2258439"/>
            <a:ext cx="983370" cy="84489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Explosion: 14 Points 12">
            <a:extLst>
              <a:ext uri="{FF2B5EF4-FFF2-40B4-BE49-F238E27FC236}">
                <a16:creationId xmlns:a16="http://schemas.microsoft.com/office/drawing/2014/main" id="{6D44D8C8-3230-2F9E-56EF-5DB8B674E9F5}"/>
              </a:ext>
            </a:extLst>
          </p:cNvPr>
          <p:cNvSpPr/>
          <p:nvPr/>
        </p:nvSpPr>
        <p:spPr>
          <a:xfrm>
            <a:off x="1726085" y="2680885"/>
            <a:ext cx="3171736" cy="1077348"/>
          </a:xfrm>
          <a:prstGeom prst="irregularSeal2">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2</a:t>
            </a:r>
          </a:p>
        </p:txBody>
      </p:sp>
      <p:pic>
        <p:nvPicPr>
          <p:cNvPr id="19" name="Picture 18">
            <a:extLst>
              <a:ext uri="{FF2B5EF4-FFF2-40B4-BE49-F238E27FC236}">
                <a16:creationId xmlns:a16="http://schemas.microsoft.com/office/drawing/2014/main" id="{971C3397-A889-3B21-6C0E-4D9361C48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784787">
            <a:off x="1576328" y="2020682"/>
            <a:ext cx="865585" cy="865585"/>
          </a:xfrm>
          <a:prstGeom prst="rect">
            <a:avLst/>
          </a:prstGeom>
        </p:spPr>
      </p:pic>
      <p:sp>
        <p:nvSpPr>
          <p:cNvPr id="22" name="Explosion: 14 Points 21">
            <a:extLst>
              <a:ext uri="{FF2B5EF4-FFF2-40B4-BE49-F238E27FC236}">
                <a16:creationId xmlns:a16="http://schemas.microsoft.com/office/drawing/2014/main" id="{0B34E6CD-45A4-3F23-5605-263F76F0F584}"/>
              </a:ext>
            </a:extLst>
          </p:cNvPr>
          <p:cNvSpPr/>
          <p:nvPr/>
        </p:nvSpPr>
        <p:spPr>
          <a:xfrm rot="415652">
            <a:off x="4075735" y="848882"/>
            <a:ext cx="2412288" cy="1228722"/>
          </a:xfrm>
          <a:prstGeom prst="irregularSeal2">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3</a:t>
            </a:r>
          </a:p>
        </p:txBody>
      </p:sp>
      <p:sp>
        <p:nvSpPr>
          <p:cNvPr id="23" name="Explosion: 14 Points 22">
            <a:extLst>
              <a:ext uri="{FF2B5EF4-FFF2-40B4-BE49-F238E27FC236}">
                <a16:creationId xmlns:a16="http://schemas.microsoft.com/office/drawing/2014/main" id="{846D95E9-77A4-853F-5387-6C27EF006F09}"/>
              </a:ext>
            </a:extLst>
          </p:cNvPr>
          <p:cNvSpPr/>
          <p:nvPr/>
        </p:nvSpPr>
        <p:spPr>
          <a:xfrm rot="824279">
            <a:off x="6294074" y="2452535"/>
            <a:ext cx="2433543" cy="1380998"/>
          </a:xfrm>
          <a:prstGeom prst="irregularSeal2">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4</a:t>
            </a:r>
          </a:p>
        </p:txBody>
      </p:sp>
      <p:pic>
        <p:nvPicPr>
          <p:cNvPr id="24" name="Picture 23">
            <a:extLst>
              <a:ext uri="{FF2B5EF4-FFF2-40B4-BE49-F238E27FC236}">
                <a16:creationId xmlns:a16="http://schemas.microsoft.com/office/drawing/2014/main" id="{4E0C1C02-D990-3E44-2E56-4D90E2A9D5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21937" y="1936286"/>
            <a:ext cx="865585" cy="865585"/>
          </a:xfrm>
          <a:prstGeom prst="rect">
            <a:avLst/>
          </a:prstGeom>
        </p:spPr>
      </p:pic>
      <p:pic>
        <p:nvPicPr>
          <p:cNvPr id="27" name="Picture 26">
            <a:extLst>
              <a:ext uri="{FF2B5EF4-FFF2-40B4-BE49-F238E27FC236}">
                <a16:creationId xmlns:a16="http://schemas.microsoft.com/office/drawing/2014/main" id="{E28E7095-BE9D-CFBE-B0C5-CB45416828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81879" y="4174326"/>
            <a:ext cx="742326" cy="742326"/>
          </a:xfrm>
          <a:prstGeom prst="rect">
            <a:avLst/>
          </a:prstGeom>
        </p:spPr>
      </p:pic>
      <p:pic>
        <p:nvPicPr>
          <p:cNvPr id="28" name="Picture 27">
            <a:extLst>
              <a:ext uri="{FF2B5EF4-FFF2-40B4-BE49-F238E27FC236}">
                <a16:creationId xmlns:a16="http://schemas.microsoft.com/office/drawing/2014/main" id="{67981846-E361-1CE9-193A-FD1503AF00E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466208">
            <a:off x="3913973" y="2002250"/>
            <a:ext cx="865585" cy="865585"/>
          </a:xfrm>
          <a:prstGeom prst="rect">
            <a:avLst/>
          </a:prstGeom>
        </p:spPr>
      </p:pic>
      <p:pic>
        <p:nvPicPr>
          <p:cNvPr id="29" name="Picture 28">
            <a:extLst>
              <a:ext uri="{FF2B5EF4-FFF2-40B4-BE49-F238E27FC236}">
                <a16:creationId xmlns:a16="http://schemas.microsoft.com/office/drawing/2014/main" id="{3A0C9E8F-F8A1-3561-4076-63B1614526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895989">
            <a:off x="5727093" y="3426469"/>
            <a:ext cx="865585" cy="865585"/>
          </a:xfrm>
          <a:prstGeom prst="rect">
            <a:avLst/>
          </a:prstGeom>
        </p:spPr>
      </p:pic>
    </p:spTree>
    <p:extLst>
      <p:ext uri="{BB962C8B-B14F-4D97-AF65-F5344CB8AC3E}">
        <p14:creationId xmlns:p14="http://schemas.microsoft.com/office/powerpoint/2010/main" val="2285320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5048280" y="3333600"/>
            <a:ext cx="3238200" cy="30456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0000" lnSpcReduction="20000"/>
          </a:bodyPr>
          <a:lstStyle/>
          <a:p>
            <a:pPr defTabSz="914400">
              <a:lnSpc>
                <a:spcPct val="150000"/>
              </a:lnSpc>
              <a:tabLst>
                <a:tab pos="0" algn="l"/>
              </a:tabLst>
            </a:pPr>
            <a:endParaRPr lang="en-US" sz="1800" b="0" u="none" strike="noStrike">
              <a:solidFill>
                <a:srgbClr val="000000"/>
              </a:solidFill>
              <a:effectLst/>
              <a:uFillTx/>
              <a:latin typeface="OpenSymbol"/>
            </a:endParaRPr>
          </a:p>
        </p:txBody>
      </p:sp>
      <p:sp>
        <p:nvSpPr>
          <p:cNvPr id="2" name="Explosion: 14 Points 1">
            <a:extLst>
              <a:ext uri="{FF2B5EF4-FFF2-40B4-BE49-F238E27FC236}">
                <a16:creationId xmlns:a16="http://schemas.microsoft.com/office/drawing/2014/main" id="{402B5E05-2435-6E5F-CF8C-287525C95D05}"/>
              </a:ext>
            </a:extLst>
          </p:cNvPr>
          <p:cNvSpPr/>
          <p:nvPr/>
        </p:nvSpPr>
        <p:spPr>
          <a:xfrm>
            <a:off x="222635" y="231883"/>
            <a:ext cx="2488759" cy="793835"/>
          </a:xfrm>
          <a:prstGeom prst="irregularSeal2">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2</a:t>
            </a:r>
          </a:p>
        </p:txBody>
      </p:sp>
      <p:sp>
        <p:nvSpPr>
          <p:cNvPr id="3" name="TextBox 2">
            <a:extLst>
              <a:ext uri="{FF2B5EF4-FFF2-40B4-BE49-F238E27FC236}">
                <a16:creationId xmlns:a16="http://schemas.microsoft.com/office/drawing/2014/main" id="{1AD4A361-C4EF-AB9D-BE58-33C88CCB030A}"/>
              </a:ext>
            </a:extLst>
          </p:cNvPr>
          <p:cNvSpPr txBox="1"/>
          <p:nvPr/>
        </p:nvSpPr>
        <p:spPr>
          <a:xfrm>
            <a:off x="2952900" y="502498"/>
            <a:ext cx="3238200" cy="523220"/>
          </a:xfrm>
          <a:prstGeom prst="rect">
            <a:avLst/>
          </a:prstGeom>
          <a:noFill/>
        </p:spPr>
        <p:txBody>
          <a:bodyPr wrap="square" rtlCol="0">
            <a:spAutoFit/>
          </a:bodyPr>
          <a:lstStyle/>
          <a:p>
            <a:pPr algn="ctr"/>
            <a:r>
              <a:rPr lang="en-US" sz="2800" b="1" u="sng" dirty="0">
                <a:effectLst>
                  <a:outerShdw blurRad="38100" dist="38100" dir="2700000" algn="tl">
                    <a:srgbClr val="000000">
                      <a:alpha val="43137"/>
                    </a:srgbClr>
                  </a:outerShdw>
                </a:effectLst>
                <a:latin typeface="Arial Narrow" panose="020B0606020202030204" pitchFamily="34" charset="0"/>
              </a:rPr>
              <a:t>Complaint Lifecycle</a:t>
            </a:r>
          </a:p>
        </p:txBody>
      </p:sp>
      <p:sp>
        <p:nvSpPr>
          <p:cNvPr id="4" name="TextBox 3">
            <a:extLst>
              <a:ext uri="{FF2B5EF4-FFF2-40B4-BE49-F238E27FC236}">
                <a16:creationId xmlns:a16="http://schemas.microsoft.com/office/drawing/2014/main" id="{267F6A9E-2F89-D9BC-5C2A-A0DC89EB847E}"/>
              </a:ext>
            </a:extLst>
          </p:cNvPr>
          <p:cNvSpPr txBox="1"/>
          <p:nvPr/>
        </p:nvSpPr>
        <p:spPr>
          <a:xfrm>
            <a:off x="1748150" y="1170450"/>
            <a:ext cx="6596678" cy="369332"/>
          </a:xfrm>
          <a:prstGeom prst="rect">
            <a:avLst/>
          </a:prstGeom>
          <a:noFill/>
        </p:spPr>
        <p:txBody>
          <a:bodyPr wrap="none" rtlCol="0">
            <a:spAutoFit/>
          </a:bodyPr>
          <a:lstStyle/>
          <a:p>
            <a:r>
              <a:rPr lang="en-US" dirty="0"/>
              <a:t>Created by a Record Producer using cs_catalog OOTB Widget</a:t>
            </a:r>
          </a:p>
        </p:txBody>
      </p:sp>
      <p:sp>
        <p:nvSpPr>
          <p:cNvPr id="5" name="TextBox 4">
            <a:extLst>
              <a:ext uri="{FF2B5EF4-FFF2-40B4-BE49-F238E27FC236}">
                <a16:creationId xmlns:a16="http://schemas.microsoft.com/office/drawing/2014/main" id="{6EE35C06-9E26-F5E0-F532-1BA0A1298BF1}"/>
              </a:ext>
            </a:extLst>
          </p:cNvPr>
          <p:cNvSpPr txBox="1"/>
          <p:nvPr/>
        </p:nvSpPr>
        <p:spPr>
          <a:xfrm>
            <a:off x="2711394" y="1809900"/>
            <a:ext cx="3522427" cy="369332"/>
          </a:xfrm>
          <a:prstGeom prst="rect">
            <a:avLst/>
          </a:prstGeom>
          <a:noFill/>
        </p:spPr>
        <p:txBody>
          <a:bodyPr wrap="square" rtlCol="0">
            <a:spAutoFit/>
          </a:bodyPr>
          <a:lstStyle/>
          <a:p>
            <a:r>
              <a:rPr lang="en-US" dirty="0"/>
              <a:t>Demo Complaint Lifecycle Flow</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7B064-80B4-053A-F533-5FFE96697CBB}"/>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C407C815-DFE9-2607-B688-1707B0185B68}"/>
              </a:ext>
            </a:extLst>
          </p:cNvPr>
          <p:cNvSpPr/>
          <p:nvPr/>
        </p:nvSpPr>
        <p:spPr>
          <a:xfrm>
            <a:off x="2111767" y="444769"/>
            <a:ext cx="1764469" cy="641185"/>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3600" dirty="0">
                <a:solidFill>
                  <a:srgbClr val="034A9E"/>
                </a:solidFill>
                <a:latin typeface="Montserrat"/>
              </a:rPr>
              <a:t>	MAP</a:t>
            </a:r>
            <a:endParaRPr lang="en-US" sz="3600" b="0" u="none" strike="noStrike" dirty="0">
              <a:solidFill>
                <a:srgbClr val="000000"/>
              </a:solidFill>
              <a:effectLst/>
              <a:uFillTx/>
              <a:latin typeface="OpenSymbol"/>
            </a:endParaRPr>
          </a:p>
        </p:txBody>
      </p:sp>
      <p:sp>
        <p:nvSpPr>
          <p:cNvPr id="2" name="Explosion: 8 Points 1">
            <a:extLst>
              <a:ext uri="{FF2B5EF4-FFF2-40B4-BE49-F238E27FC236}">
                <a16:creationId xmlns:a16="http://schemas.microsoft.com/office/drawing/2014/main" id="{C9D03D0B-5136-D867-B8EB-DD8017749124}"/>
              </a:ext>
            </a:extLst>
          </p:cNvPr>
          <p:cNvSpPr/>
          <p:nvPr/>
        </p:nvSpPr>
        <p:spPr>
          <a:xfrm>
            <a:off x="428928" y="996505"/>
            <a:ext cx="2059388" cy="1192696"/>
          </a:xfrm>
          <a:prstGeom prst="irregularSeal1">
            <a:avLst/>
          </a:prstGeom>
          <a:solidFill>
            <a:srgbClr val="00B050"/>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solidFill>
                  <a:schemeClr val="tx1"/>
                </a:solidFill>
              </a:rPr>
              <a:t>Phase 1</a:t>
            </a:r>
          </a:p>
        </p:txBody>
      </p:sp>
      <p:cxnSp>
        <p:nvCxnSpPr>
          <p:cNvPr id="10" name="Connector: Elbow 9">
            <a:extLst>
              <a:ext uri="{FF2B5EF4-FFF2-40B4-BE49-F238E27FC236}">
                <a16:creationId xmlns:a16="http://schemas.microsoft.com/office/drawing/2014/main" id="{090DB0F5-B667-BCA1-0392-5734D5BC9F78}"/>
              </a:ext>
            </a:extLst>
          </p:cNvPr>
          <p:cNvCxnSpPr>
            <a:cxnSpLocks/>
            <a:stCxn id="2" idx="2"/>
          </p:cNvCxnSpPr>
          <p:nvPr/>
        </p:nvCxnSpPr>
        <p:spPr>
          <a:xfrm rot="16200000" flipH="1">
            <a:off x="1168666" y="2258439"/>
            <a:ext cx="983370" cy="84489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Explosion: 14 Points 12">
            <a:extLst>
              <a:ext uri="{FF2B5EF4-FFF2-40B4-BE49-F238E27FC236}">
                <a16:creationId xmlns:a16="http://schemas.microsoft.com/office/drawing/2014/main" id="{5850BD24-B575-0275-6D3E-267B508C3E33}"/>
              </a:ext>
            </a:extLst>
          </p:cNvPr>
          <p:cNvSpPr/>
          <p:nvPr/>
        </p:nvSpPr>
        <p:spPr>
          <a:xfrm>
            <a:off x="1726085" y="2680885"/>
            <a:ext cx="3171736" cy="1077348"/>
          </a:xfrm>
          <a:prstGeom prst="irregularSeal2">
            <a:avLst/>
          </a:prstGeom>
          <a:solidFill>
            <a:srgbClr val="00B05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2</a:t>
            </a:r>
          </a:p>
        </p:txBody>
      </p:sp>
      <p:pic>
        <p:nvPicPr>
          <p:cNvPr id="19" name="Picture 18">
            <a:extLst>
              <a:ext uri="{FF2B5EF4-FFF2-40B4-BE49-F238E27FC236}">
                <a16:creationId xmlns:a16="http://schemas.microsoft.com/office/drawing/2014/main" id="{455CBAC4-FD67-7B6A-9489-8875871AEB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784787">
            <a:off x="1576328" y="2020682"/>
            <a:ext cx="865585" cy="865585"/>
          </a:xfrm>
          <a:prstGeom prst="rect">
            <a:avLst/>
          </a:prstGeom>
        </p:spPr>
      </p:pic>
      <p:sp>
        <p:nvSpPr>
          <p:cNvPr id="22" name="Explosion: 14 Points 21">
            <a:extLst>
              <a:ext uri="{FF2B5EF4-FFF2-40B4-BE49-F238E27FC236}">
                <a16:creationId xmlns:a16="http://schemas.microsoft.com/office/drawing/2014/main" id="{550D5FA0-9844-152C-77DE-B3E79409B347}"/>
              </a:ext>
            </a:extLst>
          </p:cNvPr>
          <p:cNvSpPr/>
          <p:nvPr/>
        </p:nvSpPr>
        <p:spPr>
          <a:xfrm rot="415652">
            <a:off x="4075735" y="848882"/>
            <a:ext cx="2412288" cy="1228722"/>
          </a:xfrm>
          <a:prstGeom prst="irregularSeal2">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3</a:t>
            </a:r>
          </a:p>
        </p:txBody>
      </p:sp>
      <p:sp>
        <p:nvSpPr>
          <p:cNvPr id="23" name="Explosion: 14 Points 22">
            <a:extLst>
              <a:ext uri="{FF2B5EF4-FFF2-40B4-BE49-F238E27FC236}">
                <a16:creationId xmlns:a16="http://schemas.microsoft.com/office/drawing/2014/main" id="{242A899B-438E-C203-3422-32E98E0AE0F7}"/>
              </a:ext>
            </a:extLst>
          </p:cNvPr>
          <p:cNvSpPr/>
          <p:nvPr/>
        </p:nvSpPr>
        <p:spPr>
          <a:xfrm rot="824279">
            <a:off x="6294074" y="2452535"/>
            <a:ext cx="2433543" cy="1380998"/>
          </a:xfrm>
          <a:prstGeom prst="irregularSeal2">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4</a:t>
            </a:r>
          </a:p>
        </p:txBody>
      </p:sp>
      <p:pic>
        <p:nvPicPr>
          <p:cNvPr id="24" name="Picture 23">
            <a:extLst>
              <a:ext uri="{FF2B5EF4-FFF2-40B4-BE49-F238E27FC236}">
                <a16:creationId xmlns:a16="http://schemas.microsoft.com/office/drawing/2014/main" id="{ADD55E64-2E15-B88D-55D3-BA54698A00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21937" y="1936286"/>
            <a:ext cx="865585" cy="865585"/>
          </a:xfrm>
          <a:prstGeom prst="rect">
            <a:avLst/>
          </a:prstGeom>
        </p:spPr>
      </p:pic>
      <p:pic>
        <p:nvPicPr>
          <p:cNvPr id="27" name="Picture 26">
            <a:extLst>
              <a:ext uri="{FF2B5EF4-FFF2-40B4-BE49-F238E27FC236}">
                <a16:creationId xmlns:a16="http://schemas.microsoft.com/office/drawing/2014/main" id="{8D1170D7-C3BD-CC7F-3C18-28E57FCC92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81879" y="4174326"/>
            <a:ext cx="742326" cy="742326"/>
          </a:xfrm>
          <a:prstGeom prst="rect">
            <a:avLst/>
          </a:prstGeom>
        </p:spPr>
      </p:pic>
      <p:pic>
        <p:nvPicPr>
          <p:cNvPr id="28" name="Picture 27">
            <a:extLst>
              <a:ext uri="{FF2B5EF4-FFF2-40B4-BE49-F238E27FC236}">
                <a16:creationId xmlns:a16="http://schemas.microsoft.com/office/drawing/2014/main" id="{46FAFAEE-56C1-13E3-8DB6-A4FCF7D34A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466208">
            <a:off x="3913973" y="2002250"/>
            <a:ext cx="865585" cy="865585"/>
          </a:xfrm>
          <a:prstGeom prst="rect">
            <a:avLst/>
          </a:prstGeom>
        </p:spPr>
      </p:pic>
      <p:pic>
        <p:nvPicPr>
          <p:cNvPr id="29" name="Picture 28">
            <a:extLst>
              <a:ext uri="{FF2B5EF4-FFF2-40B4-BE49-F238E27FC236}">
                <a16:creationId xmlns:a16="http://schemas.microsoft.com/office/drawing/2014/main" id="{22C21159-52D6-8FA7-D090-265C4D1AADF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895989">
            <a:off x="5727093" y="3426469"/>
            <a:ext cx="865585" cy="865585"/>
          </a:xfrm>
          <a:prstGeom prst="rect">
            <a:avLst/>
          </a:prstGeom>
        </p:spPr>
      </p:pic>
    </p:spTree>
    <p:extLst>
      <p:ext uri="{BB962C8B-B14F-4D97-AF65-F5344CB8AC3E}">
        <p14:creationId xmlns:p14="http://schemas.microsoft.com/office/powerpoint/2010/main" val="7912249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xplosion: 14 Points 1">
            <a:extLst>
              <a:ext uri="{FF2B5EF4-FFF2-40B4-BE49-F238E27FC236}">
                <a16:creationId xmlns:a16="http://schemas.microsoft.com/office/drawing/2014/main" id="{4A682D91-1E1E-AD7A-AF04-60D46FBB783D}"/>
              </a:ext>
            </a:extLst>
          </p:cNvPr>
          <p:cNvSpPr/>
          <p:nvPr/>
        </p:nvSpPr>
        <p:spPr>
          <a:xfrm rot="415652">
            <a:off x="102109" y="265049"/>
            <a:ext cx="2458813" cy="747292"/>
          </a:xfrm>
          <a:prstGeom prst="irregularSeal2">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3</a:t>
            </a:r>
          </a:p>
        </p:txBody>
      </p:sp>
      <p:sp>
        <p:nvSpPr>
          <p:cNvPr id="3" name="TextBox 2">
            <a:extLst>
              <a:ext uri="{FF2B5EF4-FFF2-40B4-BE49-F238E27FC236}">
                <a16:creationId xmlns:a16="http://schemas.microsoft.com/office/drawing/2014/main" id="{FD5A5C47-C79E-6C52-C041-18DEEEB2C669}"/>
              </a:ext>
            </a:extLst>
          </p:cNvPr>
          <p:cNvSpPr txBox="1"/>
          <p:nvPr/>
        </p:nvSpPr>
        <p:spPr>
          <a:xfrm>
            <a:off x="2480807" y="377085"/>
            <a:ext cx="5001371" cy="523220"/>
          </a:xfrm>
          <a:prstGeom prst="rect">
            <a:avLst/>
          </a:prstGeom>
          <a:noFill/>
        </p:spPr>
        <p:txBody>
          <a:bodyPr wrap="square" rtlCol="0">
            <a:spAutoFit/>
          </a:bodyPr>
          <a:lstStyle/>
          <a:p>
            <a:pPr algn="ctr"/>
            <a:r>
              <a:rPr lang="en-US" sz="2800" b="1" u="sng" dirty="0">
                <a:effectLst>
                  <a:outerShdw blurRad="38100" dist="38100" dir="2700000" algn="tl">
                    <a:srgbClr val="000000">
                      <a:alpha val="43137"/>
                    </a:srgbClr>
                  </a:outerShdw>
                </a:effectLst>
              </a:rPr>
              <a:t>Recommendation Lifecycle</a:t>
            </a:r>
          </a:p>
        </p:txBody>
      </p:sp>
      <p:sp>
        <p:nvSpPr>
          <p:cNvPr id="4" name="TextBox 3">
            <a:extLst>
              <a:ext uri="{FF2B5EF4-FFF2-40B4-BE49-F238E27FC236}">
                <a16:creationId xmlns:a16="http://schemas.microsoft.com/office/drawing/2014/main" id="{2874CAF1-AC61-2464-9F72-CA7CEAB31408}"/>
              </a:ext>
            </a:extLst>
          </p:cNvPr>
          <p:cNvSpPr txBox="1"/>
          <p:nvPr/>
        </p:nvSpPr>
        <p:spPr>
          <a:xfrm>
            <a:off x="1683153" y="1157897"/>
            <a:ext cx="6596678" cy="369332"/>
          </a:xfrm>
          <a:prstGeom prst="rect">
            <a:avLst/>
          </a:prstGeom>
          <a:noFill/>
        </p:spPr>
        <p:txBody>
          <a:bodyPr wrap="none" rtlCol="0">
            <a:spAutoFit/>
          </a:bodyPr>
          <a:lstStyle/>
          <a:p>
            <a:r>
              <a:rPr lang="en-US" dirty="0"/>
              <a:t>Created by a Record Producer using cs_catalog OOTB Widget</a:t>
            </a:r>
          </a:p>
        </p:txBody>
      </p:sp>
      <p:sp>
        <p:nvSpPr>
          <p:cNvPr id="5" name="TextBox 4">
            <a:extLst>
              <a:ext uri="{FF2B5EF4-FFF2-40B4-BE49-F238E27FC236}">
                <a16:creationId xmlns:a16="http://schemas.microsoft.com/office/drawing/2014/main" id="{B34B030A-55DE-5B91-3168-B085913EDD12}"/>
              </a:ext>
            </a:extLst>
          </p:cNvPr>
          <p:cNvSpPr txBox="1"/>
          <p:nvPr/>
        </p:nvSpPr>
        <p:spPr>
          <a:xfrm>
            <a:off x="492980" y="1569377"/>
            <a:ext cx="3093057" cy="369332"/>
          </a:xfrm>
          <a:prstGeom prst="rect">
            <a:avLst/>
          </a:prstGeom>
          <a:noFill/>
        </p:spPr>
        <p:txBody>
          <a:bodyPr wrap="square" rtlCol="0">
            <a:spAutoFit/>
          </a:bodyPr>
          <a:lstStyle/>
          <a:p>
            <a:r>
              <a:rPr lang="en-US" u="sng" dirty="0">
                <a:effectLst>
                  <a:outerShdw blurRad="38100" dist="38100" dir="2700000" algn="tl">
                    <a:srgbClr val="000000">
                      <a:alpha val="43137"/>
                    </a:srgbClr>
                  </a:outerShdw>
                </a:effectLst>
              </a:rPr>
              <a:t>Recommendation vote:</a:t>
            </a:r>
          </a:p>
        </p:txBody>
      </p:sp>
      <p:sp>
        <p:nvSpPr>
          <p:cNvPr id="6" name="TextBox 5">
            <a:extLst>
              <a:ext uri="{FF2B5EF4-FFF2-40B4-BE49-F238E27FC236}">
                <a16:creationId xmlns:a16="http://schemas.microsoft.com/office/drawing/2014/main" id="{BCDE738F-4816-DB33-673C-A0D9BABB49C9}"/>
              </a:ext>
            </a:extLst>
          </p:cNvPr>
          <p:cNvSpPr txBox="1"/>
          <p:nvPr/>
        </p:nvSpPr>
        <p:spPr>
          <a:xfrm>
            <a:off x="985962" y="2122998"/>
            <a:ext cx="5295568" cy="369332"/>
          </a:xfrm>
          <a:prstGeom prst="rect">
            <a:avLst/>
          </a:prstGeom>
          <a:noFill/>
        </p:spPr>
        <p:txBody>
          <a:bodyPr wrap="square" rtlCol="0">
            <a:spAutoFit/>
          </a:bodyPr>
          <a:lstStyle/>
          <a:p>
            <a:r>
              <a:rPr lang="en-US" dirty="0"/>
              <a:t>BR: One Vote Ber Citizen (BEFORE Insert)</a:t>
            </a:r>
          </a:p>
        </p:txBody>
      </p:sp>
      <p:pic>
        <p:nvPicPr>
          <p:cNvPr id="8" name="Picture 7">
            <a:extLst>
              <a:ext uri="{FF2B5EF4-FFF2-40B4-BE49-F238E27FC236}">
                <a16:creationId xmlns:a16="http://schemas.microsoft.com/office/drawing/2014/main" id="{928CBE76-9C5F-AA20-6810-3C432D4547F3}"/>
              </a:ext>
            </a:extLst>
          </p:cNvPr>
          <p:cNvPicPr>
            <a:picLocks noChangeAspect="1"/>
          </p:cNvPicPr>
          <p:nvPr/>
        </p:nvPicPr>
        <p:blipFill>
          <a:blip r:embed="rId2"/>
          <a:stretch>
            <a:fillRect/>
          </a:stretch>
        </p:blipFill>
        <p:spPr>
          <a:xfrm>
            <a:off x="985962" y="2534478"/>
            <a:ext cx="5147372" cy="194210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6E39BF-1DF5-CD69-B55E-63C9369A6F5A}"/>
              </a:ext>
            </a:extLst>
          </p:cNvPr>
          <p:cNvSpPr txBox="1"/>
          <p:nvPr/>
        </p:nvSpPr>
        <p:spPr>
          <a:xfrm>
            <a:off x="616226" y="367949"/>
            <a:ext cx="4572000" cy="369332"/>
          </a:xfrm>
          <a:prstGeom prst="rect">
            <a:avLst/>
          </a:prstGeom>
          <a:noFill/>
        </p:spPr>
        <p:txBody>
          <a:bodyPr wrap="square">
            <a:spAutoFit/>
          </a:bodyPr>
          <a:lstStyle/>
          <a:p>
            <a:r>
              <a:rPr lang="en-US" dirty="0"/>
              <a:t>BR: auto Set Voted On:</a:t>
            </a:r>
          </a:p>
        </p:txBody>
      </p:sp>
      <p:pic>
        <p:nvPicPr>
          <p:cNvPr id="5" name="Picture 4">
            <a:extLst>
              <a:ext uri="{FF2B5EF4-FFF2-40B4-BE49-F238E27FC236}">
                <a16:creationId xmlns:a16="http://schemas.microsoft.com/office/drawing/2014/main" id="{36C4015D-93A3-4DBE-55F6-33978F5F18B4}"/>
              </a:ext>
            </a:extLst>
          </p:cNvPr>
          <p:cNvPicPr>
            <a:picLocks noChangeAspect="1"/>
          </p:cNvPicPr>
          <p:nvPr/>
        </p:nvPicPr>
        <p:blipFill>
          <a:blip r:embed="rId2"/>
          <a:stretch>
            <a:fillRect/>
          </a:stretch>
        </p:blipFill>
        <p:spPr>
          <a:xfrm>
            <a:off x="616226" y="917001"/>
            <a:ext cx="3378374" cy="844593"/>
          </a:xfrm>
          <a:prstGeom prst="rect">
            <a:avLst/>
          </a:prstGeom>
        </p:spPr>
      </p:pic>
      <p:sp>
        <p:nvSpPr>
          <p:cNvPr id="6" name="TextBox 5">
            <a:extLst>
              <a:ext uri="{FF2B5EF4-FFF2-40B4-BE49-F238E27FC236}">
                <a16:creationId xmlns:a16="http://schemas.microsoft.com/office/drawing/2014/main" id="{C3BE711D-9AAF-A8DC-B6E1-0E98E7540C2E}"/>
              </a:ext>
            </a:extLst>
          </p:cNvPr>
          <p:cNvSpPr txBox="1"/>
          <p:nvPr/>
        </p:nvSpPr>
        <p:spPr>
          <a:xfrm>
            <a:off x="516835" y="1860605"/>
            <a:ext cx="7108466" cy="461665"/>
          </a:xfrm>
          <a:prstGeom prst="rect">
            <a:avLst/>
          </a:prstGeom>
          <a:noFill/>
        </p:spPr>
        <p:txBody>
          <a:bodyPr wrap="square" rtlCol="0">
            <a:spAutoFit/>
          </a:bodyPr>
          <a:lstStyle/>
          <a:p>
            <a:r>
              <a:rPr lang="en-US" sz="2400" b="1" u="sng" dirty="0">
                <a:effectLst>
                  <a:outerShdw blurRad="38100" dist="38100" dir="2700000" algn="tl">
                    <a:srgbClr val="000000">
                      <a:alpha val="43137"/>
                    </a:srgbClr>
                  </a:outerShdw>
                </a:effectLst>
              </a:rPr>
              <a:t>Recommendation List: </a:t>
            </a:r>
            <a:r>
              <a:rPr lang="en-US" sz="2400" dirty="0"/>
              <a:t>(handled with Flow)</a:t>
            </a:r>
            <a:endParaRPr lang="en-US" sz="2400" b="1" u="sng" dirty="0">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5EDE7F6A-5400-E167-AA64-C55BDCE908AA}"/>
              </a:ext>
            </a:extLst>
          </p:cNvPr>
          <p:cNvSpPr txBox="1"/>
          <p:nvPr/>
        </p:nvSpPr>
        <p:spPr>
          <a:xfrm>
            <a:off x="826935" y="2387084"/>
            <a:ext cx="5565913" cy="369332"/>
          </a:xfrm>
          <a:prstGeom prst="rect">
            <a:avLst/>
          </a:prstGeom>
          <a:noFill/>
        </p:spPr>
        <p:txBody>
          <a:bodyPr wrap="square" rtlCol="0">
            <a:spAutoFit/>
          </a:bodyPr>
          <a:lstStyle/>
          <a:p>
            <a:r>
              <a:rPr lang="en-US" dirty="0"/>
              <a:t>OOTB widget :Data Table from Instance Definition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27FC4-2CA7-2F6E-52FA-E565C38BF393}"/>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B4B7EC9E-D713-9F46-3B8D-AD61EA7396ED}"/>
              </a:ext>
            </a:extLst>
          </p:cNvPr>
          <p:cNvSpPr/>
          <p:nvPr/>
        </p:nvSpPr>
        <p:spPr>
          <a:xfrm>
            <a:off x="2111767" y="444769"/>
            <a:ext cx="1764469" cy="641185"/>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3600" dirty="0">
                <a:solidFill>
                  <a:srgbClr val="034A9E"/>
                </a:solidFill>
                <a:latin typeface="Montserrat"/>
              </a:rPr>
              <a:t>	MAP</a:t>
            </a:r>
            <a:endParaRPr lang="en-US" sz="3600" b="0" u="none" strike="noStrike" dirty="0">
              <a:solidFill>
                <a:srgbClr val="000000"/>
              </a:solidFill>
              <a:effectLst/>
              <a:uFillTx/>
              <a:latin typeface="OpenSymbol"/>
            </a:endParaRPr>
          </a:p>
        </p:txBody>
      </p:sp>
      <p:sp>
        <p:nvSpPr>
          <p:cNvPr id="2" name="Explosion: 8 Points 1">
            <a:extLst>
              <a:ext uri="{FF2B5EF4-FFF2-40B4-BE49-F238E27FC236}">
                <a16:creationId xmlns:a16="http://schemas.microsoft.com/office/drawing/2014/main" id="{916CCD3C-4FD1-476D-FB2F-E0593FA77C02}"/>
              </a:ext>
            </a:extLst>
          </p:cNvPr>
          <p:cNvSpPr/>
          <p:nvPr/>
        </p:nvSpPr>
        <p:spPr>
          <a:xfrm>
            <a:off x="428928" y="996505"/>
            <a:ext cx="2059388" cy="1192696"/>
          </a:xfrm>
          <a:prstGeom prst="irregularSeal1">
            <a:avLst/>
          </a:prstGeom>
          <a:solidFill>
            <a:srgbClr val="00B050"/>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solidFill>
                  <a:schemeClr val="tx1"/>
                </a:solidFill>
              </a:rPr>
              <a:t>Phase 1</a:t>
            </a:r>
          </a:p>
        </p:txBody>
      </p:sp>
      <p:cxnSp>
        <p:nvCxnSpPr>
          <p:cNvPr id="10" name="Connector: Elbow 9">
            <a:extLst>
              <a:ext uri="{FF2B5EF4-FFF2-40B4-BE49-F238E27FC236}">
                <a16:creationId xmlns:a16="http://schemas.microsoft.com/office/drawing/2014/main" id="{B36A5574-A77B-CD9C-D672-86C293FC8A53}"/>
              </a:ext>
            </a:extLst>
          </p:cNvPr>
          <p:cNvCxnSpPr>
            <a:cxnSpLocks/>
            <a:stCxn id="2" idx="2"/>
          </p:cNvCxnSpPr>
          <p:nvPr/>
        </p:nvCxnSpPr>
        <p:spPr>
          <a:xfrm rot="16200000" flipH="1">
            <a:off x="1168666" y="2258439"/>
            <a:ext cx="983370" cy="84489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Explosion: 14 Points 12">
            <a:extLst>
              <a:ext uri="{FF2B5EF4-FFF2-40B4-BE49-F238E27FC236}">
                <a16:creationId xmlns:a16="http://schemas.microsoft.com/office/drawing/2014/main" id="{C80E270E-8FCB-45D6-99C3-848B71FF0D4C}"/>
              </a:ext>
            </a:extLst>
          </p:cNvPr>
          <p:cNvSpPr/>
          <p:nvPr/>
        </p:nvSpPr>
        <p:spPr>
          <a:xfrm>
            <a:off x="1726085" y="2680885"/>
            <a:ext cx="3171736" cy="1077348"/>
          </a:xfrm>
          <a:prstGeom prst="irregularSeal2">
            <a:avLst/>
          </a:prstGeom>
          <a:solidFill>
            <a:srgbClr val="00B05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2</a:t>
            </a:r>
          </a:p>
        </p:txBody>
      </p:sp>
      <p:pic>
        <p:nvPicPr>
          <p:cNvPr id="19" name="Picture 18">
            <a:extLst>
              <a:ext uri="{FF2B5EF4-FFF2-40B4-BE49-F238E27FC236}">
                <a16:creationId xmlns:a16="http://schemas.microsoft.com/office/drawing/2014/main" id="{B15BE20F-7CAB-683C-40AE-F00ECF3A63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784787">
            <a:off x="1576328" y="2020682"/>
            <a:ext cx="865585" cy="865585"/>
          </a:xfrm>
          <a:prstGeom prst="rect">
            <a:avLst/>
          </a:prstGeom>
        </p:spPr>
      </p:pic>
      <p:sp>
        <p:nvSpPr>
          <p:cNvPr id="22" name="Explosion: 14 Points 21">
            <a:extLst>
              <a:ext uri="{FF2B5EF4-FFF2-40B4-BE49-F238E27FC236}">
                <a16:creationId xmlns:a16="http://schemas.microsoft.com/office/drawing/2014/main" id="{9DD4D586-FABA-6C81-F3A1-6676039433BE}"/>
              </a:ext>
            </a:extLst>
          </p:cNvPr>
          <p:cNvSpPr/>
          <p:nvPr/>
        </p:nvSpPr>
        <p:spPr>
          <a:xfrm rot="415652">
            <a:off x="4075735" y="848882"/>
            <a:ext cx="2412288" cy="1228722"/>
          </a:xfrm>
          <a:prstGeom prst="irregularSeal2">
            <a:avLst/>
          </a:prstGeom>
          <a:solidFill>
            <a:srgbClr val="00B05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3</a:t>
            </a:r>
          </a:p>
        </p:txBody>
      </p:sp>
      <p:sp>
        <p:nvSpPr>
          <p:cNvPr id="23" name="Explosion: 14 Points 22">
            <a:extLst>
              <a:ext uri="{FF2B5EF4-FFF2-40B4-BE49-F238E27FC236}">
                <a16:creationId xmlns:a16="http://schemas.microsoft.com/office/drawing/2014/main" id="{7C6E4A08-50CD-74AF-9076-B76560BEC4AF}"/>
              </a:ext>
            </a:extLst>
          </p:cNvPr>
          <p:cNvSpPr/>
          <p:nvPr/>
        </p:nvSpPr>
        <p:spPr>
          <a:xfrm rot="824279">
            <a:off x="6294074" y="2452535"/>
            <a:ext cx="2433543" cy="1380998"/>
          </a:xfrm>
          <a:prstGeom prst="irregularSeal2">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4</a:t>
            </a:r>
          </a:p>
        </p:txBody>
      </p:sp>
      <p:pic>
        <p:nvPicPr>
          <p:cNvPr id="24" name="Picture 23">
            <a:extLst>
              <a:ext uri="{FF2B5EF4-FFF2-40B4-BE49-F238E27FC236}">
                <a16:creationId xmlns:a16="http://schemas.microsoft.com/office/drawing/2014/main" id="{AC3CD376-D78C-33C1-AB4D-C0F41C5ECA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21937" y="1936286"/>
            <a:ext cx="865585" cy="865585"/>
          </a:xfrm>
          <a:prstGeom prst="rect">
            <a:avLst/>
          </a:prstGeom>
        </p:spPr>
      </p:pic>
      <p:pic>
        <p:nvPicPr>
          <p:cNvPr id="27" name="Picture 26">
            <a:extLst>
              <a:ext uri="{FF2B5EF4-FFF2-40B4-BE49-F238E27FC236}">
                <a16:creationId xmlns:a16="http://schemas.microsoft.com/office/drawing/2014/main" id="{F196BFBC-6F80-A59A-0DF5-8146F992AC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81879" y="4174326"/>
            <a:ext cx="742326" cy="742326"/>
          </a:xfrm>
          <a:prstGeom prst="rect">
            <a:avLst/>
          </a:prstGeom>
        </p:spPr>
      </p:pic>
      <p:pic>
        <p:nvPicPr>
          <p:cNvPr id="28" name="Picture 27">
            <a:extLst>
              <a:ext uri="{FF2B5EF4-FFF2-40B4-BE49-F238E27FC236}">
                <a16:creationId xmlns:a16="http://schemas.microsoft.com/office/drawing/2014/main" id="{CEA7264A-3793-7448-BB67-0BAF9B6E13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466208">
            <a:off x="3913973" y="2002250"/>
            <a:ext cx="865585" cy="865585"/>
          </a:xfrm>
          <a:prstGeom prst="rect">
            <a:avLst/>
          </a:prstGeom>
        </p:spPr>
      </p:pic>
      <p:pic>
        <p:nvPicPr>
          <p:cNvPr id="29" name="Picture 28">
            <a:extLst>
              <a:ext uri="{FF2B5EF4-FFF2-40B4-BE49-F238E27FC236}">
                <a16:creationId xmlns:a16="http://schemas.microsoft.com/office/drawing/2014/main" id="{0E7D9991-00AB-C8B0-EA4E-0F0BAFDDF4C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895989">
            <a:off x="5727093" y="3426469"/>
            <a:ext cx="865585" cy="865585"/>
          </a:xfrm>
          <a:prstGeom prst="rect">
            <a:avLst/>
          </a:prstGeom>
        </p:spPr>
      </p:pic>
    </p:spTree>
    <p:extLst>
      <p:ext uri="{BB962C8B-B14F-4D97-AF65-F5344CB8AC3E}">
        <p14:creationId xmlns:p14="http://schemas.microsoft.com/office/powerpoint/2010/main" val="32118426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xplosion: 14 Points 3">
            <a:extLst>
              <a:ext uri="{FF2B5EF4-FFF2-40B4-BE49-F238E27FC236}">
                <a16:creationId xmlns:a16="http://schemas.microsoft.com/office/drawing/2014/main" id="{41AEC891-FB00-2D17-07D0-470BC0A8921A}"/>
              </a:ext>
            </a:extLst>
          </p:cNvPr>
          <p:cNvSpPr/>
          <p:nvPr/>
        </p:nvSpPr>
        <p:spPr>
          <a:xfrm rot="20349008">
            <a:off x="-27214" y="-1137"/>
            <a:ext cx="2433543" cy="1380998"/>
          </a:xfrm>
          <a:prstGeom prst="irregularSeal2">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4</a:t>
            </a:r>
          </a:p>
        </p:txBody>
      </p:sp>
      <p:sp>
        <p:nvSpPr>
          <p:cNvPr id="6" name="TextBox 5">
            <a:extLst>
              <a:ext uri="{FF2B5EF4-FFF2-40B4-BE49-F238E27FC236}">
                <a16:creationId xmlns:a16="http://schemas.microsoft.com/office/drawing/2014/main" id="{70E52604-B338-EDC7-846F-2A27BAB67CF5}"/>
              </a:ext>
            </a:extLst>
          </p:cNvPr>
          <p:cNvSpPr txBox="1"/>
          <p:nvPr/>
        </p:nvSpPr>
        <p:spPr>
          <a:xfrm>
            <a:off x="3124863" y="397566"/>
            <a:ext cx="2765711" cy="461665"/>
          </a:xfrm>
          <a:prstGeom prst="rect">
            <a:avLst/>
          </a:prstGeom>
          <a:noFill/>
        </p:spPr>
        <p:txBody>
          <a:bodyPr wrap="square" rtlCol="0">
            <a:spAutoFit/>
          </a:bodyPr>
          <a:lstStyle/>
          <a:p>
            <a:pPr algn="ctr"/>
            <a:r>
              <a:rPr lang="en-US" sz="2400" b="1" u="sng" dirty="0">
                <a:effectLst>
                  <a:outerShdw blurRad="38100" dist="38100" dir="2700000" algn="tl">
                    <a:srgbClr val="000000">
                      <a:alpha val="43137"/>
                    </a:srgbClr>
                  </a:outerShdw>
                </a:effectLst>
              </a:rPr>
              <a:t>My Applications:</a:t>
            </a:r>
          </a:p>
        </p:txBody>
      </p:sp>
      <p:sp>
        <p:nvSpPr>
          <p:cNvPr id="7" name="TextBox 6">
            <a:extLst>
              <a:ext uri="{FF2B5EF4-FFF2-40B4-BE49-F238E27FC236}">
                <a16:creationId xmlns:a16="http://schemas.microsoft.com/office/drawing/2014/main" id="{B291B425-3EB7-C845-7DB1-B8EA5E3A9F7D}"/>
              </a:ext>
            </a:extLst>
          </p:cNvPr>
          <p:cNvSpPr txBox="1"/>
          <p:nvPr/>
        </p:nvSpPr>
        <p:spPr>
          <a:xfrm>
            <a:off x="2441050" y="1025718"/>
            <a:ext cx="4945712" cy="369332"/>
          </a:xfrm>
          <a:prstGeom prst="rect">
            <a:avLst/>
          </a:prstGeom>
          <a:noFill/>
        </p:spPr>
        <p:txBody>
          <a:bodyPr wrap="square" rtlCol="0">
            <a:spAutoFit/>
          </a:bodyPr>
          <a:lstStyle/>
          <a:p>
            <a:r>
              <a:rPr lang="en-US" dirty="0"/>
              <a:t>Created BY OOTB widget called ‘ My Request’</a:t>
            </a:r>
          </a:p>
        </p:txBody>
      </p:sp>
      <p:sp>
        <p:nvSpPr>
          <p:cNvPr id="8" name="TextBox 7">
            <a:extLst>
              <a:ext uri="{FF2B5EF4-FFF2-40B4-BE49-F238E27FC236}">
                <a16:creationId xmlns:a16="http://schemas.microsoft.com/office/drawing/2014/main" id="{A83F1E24-8B1B-F900-8E57-9A311C36CC85}"/>
              </a:ext>
            </a:extLst>
          </p:cNvPr>
          <p:cNvSpPr txBox="1"/>
          <p:nvPr/>
        </p:nvSpPr>
        <p:spPr>
          <a:xfrm>
            <a:off x="2886323" y="1398387"/>
            <a:ext cx="3912042" cy="369332"/>
          </a:xfrm>
          <a:prstGeom prst="rect">
            <a:avLst/>
          </a:prstGeom>
          <a:noFill/>
        </p:spPr>
        <p:txBody>
          <a:bodyPr wrap="square" rtlCol="0">
            <a:spAutoFit/>
          </a:bodyPr>
          <a:lstStyle/>
          <a:p>
            <a:r>
              <a:rPr lang="en-US" dirty="0"/>
              <a:t>To store all the complaints Records</a:t>
            </a:r>
          </a:p>
        </p:txBody>
      </p:sp>
      <p:sp>
        <p:nvSpPr>
          <p:cNvPr id="9" name="TextBox 8">
            <a:extLst>
              <a:ext uri="{FF2B5EF4-FFF2-40B4-BE49-F238E27FC236}">
                <a16:creationId xmlns:a16="http://schemas.microsoft.com/office/drawing/2014/main" id="{2FDCDC4C-90E6-497E-46B5-A4A467864C30}"/>
              </a:ext>
            </a:extLst>
          </p:cNvPr>
          <p:cNvSpPr txBox="1"/>
          <p:nvPr/>
        </p:nvSpPr>
        <p:spPr>
          <a:xfrm>
            <a:off x="2034862" y="2622900"/>
            <a:ext cx="4945711" cy="461665"/>
          </a:xfrm>
          <a:prstGeom prst="rect">
            <a:avLst/>
          </a:prstGeom>
          <a:noFill/>
        </p:spPr>
        <p:txBody>
          <a:bodyPr wrap="square" rtlCol="0">
            <a:spAutoFit/>
          </a:bodyPr>
          <a:lstStyle/>
          <a:p>
            <a:pPr algn="ctr"/>
            <a:r>
              <a:rPr lang="en-US" sz="2400" b="1" u="sng" dirty="0">
                <a:effectLst>
                  <a:outerShdw blurRad="38100" dist="38100" dir="2700000" algn="tl">
                    <a:srgbClr val="000000">
                      <a:alpha val="43137"/>
                    </a:srgbClr>
                  </a:outerShdw>
                </a:effectLst>
              </a:rPr>
              <a:t>Dashboard Take a look on it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A0D98-F912-32B9-57C3-10B891AA6F36}"/>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9BFAA499-0AE6-13AE-702D-14B64C318434}"/>
              </a:ext>
            </a:extLst>
          </p:cNvPr>
          <p:cNvSpPr/>
          <p:nvPr/>
        </p:nvSpPr>
        <p:spPr>
          <a:xfrm>
            <a:off x="2111767" y="444769"/>
            <a:ext cx="1764469" cy="641185"/>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3600" dirty="0">
                <a:solidFill>
                  <a:srgbClr val="034A9E"/>
                </a:solidFill>
                <a:latin typeface="Montserrat"/>
              </a:rPr>
              <a:t>	MAP</a:t>
            </a:r>
            <a:endParaRPr lang="en-US" sz="3600" b="0" u="none" strike="noStrike" dirty="0">
              <a:solidFill>
                <a:srgbClr val="000000"/>
              </a:solidFill>
              <a:effectLst/>
              <a:uFillTx/>
              <a:latin typeface="OpenSymbol"/>
            </a:endParaRPr>
          </a:p>
        </p:txBody>
      </p:sp>
      <p:sp>
        <p:nvSpPr>
          <p:cNvPr id="2" name="Explosion: 8 Points 1">
            <a:extLst>
              <a:ext uri="{FF2B5EF4-FFF2-40B4-BE49-F238E27FC236}">
                <a16:creationId xmlns:a16="http://schemas.microsoft.com/office/drawing/2014/main" id="{4D88C90B-0D8E-AA56-B7DE-0288D22FCC7F}"/>
              </a:ext>
            </a:extLst>
          </p:cNvPr>
          <p:cNvSpPr/>
          <p:nvPr/>
        </p:nvSpPr>
        <p:spPr>
          <a:xfrm>
            <a:off x="428928" y="996505"/>
            <a:ext cx="2059388" cy="1192696"/>
          </a:xfrm>
          <a:prstGeom prst="irregularSeal1">
            <a:avLst/>
          </a:prstGeom>
          <a:solidFill>
            <a:srgbClr val="00B050"/>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solidFill>
                  <a:schemeClr val="tx1"/>
                </a:solidFill>
              </a:rPr>
              <a:t>Phase 1</a:t>
            </a:r>
          </a:p>
        </p:txBody>
      </p:sp>
      <p:cxnSp>
        <p:nvCxnSpPr>
          <p:cNvPr id="10" name="Connector: Elbow 9">
            <a:extLst>
              <a:ext uri="{FF2B5EF4-FFF2-40B4-BE49-F238E27FC236}">
                <a16:creationId xmlns:a16="http://schemas.microsoft.com/office/drawing/2014/main" id="{586B3B92-E7D9-12A7-9DA2-2958DDBA0FAD}"/>
              </a:ext>
            </a:extLst>
          </p:cNvPr>
          <p:cNvCxnSpPr>
            <a:cxnSpLocks/>
            <a:stCxn id="2" idx="2"/>
          </p:cNvCxnSpPr>
          <p:nvPr/>
        </p:nvCxnSpPr>
        <p:spPr>
          <a:xfrm rot="16200000" flipH="1">
            <a:off x="1168666" y="2258439"/>
            <a:ext cx="983370" cy="84489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Explosion: 14 Points 12">
            <a:extLst>
              <a:ext uri="{FF2B5EF4-FFF2-40B4-BE49-F238E27FC236}">
                <a16:creationId xmlns:a16="http://schemas.microsoft.com/office/drawing/2014/main" id="{D6BE50D6-A2AC-E721-9C08-C3A6E4D63EA0}"/>
              </a:ext>
            </a:extLst>
          </p:cNvPr>
          <p:cNvSpPr/>
          <p:nvPr/>
        </p:nvSpPr>
        <p:spPr>
          <a:xfrm>
            <a:off x="1726085" y="2680885"/>
            <a:ext cx="3171736" cy="1077348"/>
          </a:xfrm>
          <a:prstGeom prst="irregularSeal2">
            <a:avLst/>
          </a:prstGeom>
          <a:solidFill>
            <a:srgbClr val="00B05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2</a:t>
            </a:r>
          </a:p>
        </p:txBody>
      </p:sp>
      <p:pic>
        <p:nvPicPr>
          <p:cNvPr id="19" name="Picture 18">
            <a:extLst>
              <a:ext uri="{FF2B5EF4-FFF2-40B4-BE49-F238E27FC236}">
                <a16:creationId xmlns:a16="http://schemas.microsoft.com/office/drawing/2014/main" id="{3CEA1A7B-433E-1CC4-6037-41F15757E4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784787">
            <a:off x="1576328" y="2020682"/>
            <a:ext cx="865585" cy="865585"/>
          </a:xfrm>
          <a:prstGeom prst="rect">
            <a:avLst/>
          </a:prstGeom>
        </p:spPr>
      </p:pic>
      <p:sp>
        <p:nvSpPr>
          <p:cNvPr id="22" name="Explosion: 14 Points 21">
            <a:extLst>
              <a:ext uri="{FF2B5EF4-FFF2-40B4-BE49-F238E27FC236}">
                <a16:creationId xmlns:a16="http://schemas.microsoft.com/office/drawing/2014/main" id="{CF14A173-5A73-6EFC-DEEF-D087A231C4DA}"/>
              </a:ext>
            </a:extLst>
          </p:cNvPr>
          <p:cNvSpPr/>
          <p:nvPr/>
        </p:nvSpPr>
        <p:spPr>
          <a:xfrm rot="415652">
            <a:off x="4075735" y="848882"/>
            <a:ext cx="2412288" cy="1228722"/>
          </a:xfrm>
          <a:prstGeom prst="irregularSeal2">
            <a:avLst/>
          </a:prstGeom>
          <a:solidFill>
            <a:srgbClr val="00B05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3</a:t>
            </a:r>
          </a:p>
        </p:txBody>
      </p:sp>
      <p:sp>
        <p:nvSpPr>
          <p:cNvPr id="23" name="Explosion: 14 Points 22">
            <a:extLst>
              <a:ext uri="{FF2B5EF4-FFF2-40B4-BE49-F238E27FC236}">
                <a16:creationId xmlns:a16="http://schemas.microsoft.com/office/drawing/2014/main" id="{F6743053-F85E-61E0-684E-F11E33387FF1}"/>
              </a:ext>
            </a:extLst>
          </p:cNvPr>
          <p:cNvSpPr/>
          <p:nvPr/>
        </p:nvSpPr>
        <p:spPr>
          <a:xfrm rot="824279">
            <a:off x="6294074" y="2452535"/>
            <a:ext cx="2433543" cy="1380998"/>
          </a:xfrm>
          <a:prstGeom prst="irregularSeal2">
            <a:avLst/>
          </a:prstGeom>
          <a:solidFill>
            <a:srgbClr val="00B05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Phase 4</a:t>
            </a:r>
          </a:p>
        </p:txBody>
      </p:sp>
      <p:pic>
        <p:nvPicPr>
          <p:cNvPr id="24" name="Picture 23">
            <a:extLst>
              <a:ext uri="{FF2B5EF4-FFF2-40B4-BE49-F238E27FC236}">
                <a16:creationId xmlns:a16="http://schemas.microsoft.com/office/drawing/2014/main" id="{483E88CE-31CA-431A-A927-A819D34A5C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21937" y="1936286"/>
            <a:ext cx="865585" cy="865585"/>
          </a:xfrm>
          <a:prstGeom prst="rect">
            <a:avLst/>
          </a:prstGeom>
        </p:spPr>
      </p:pic>
      <p:pic>
        <p:nvPicPr>
          <p:cNvPr id="27" name="Picture 26">
            <a:extLst>
              <a:ext uri="{FF2B5EF4-FFF2-40B4-BE49-F238E27FC236}">
                <a16:creationId xmlns:a16="http://schemas.microsoft.com/office/drawing/2014/main" id="{8D9B78CE-8DC9-6210-7C69-22FA3460DC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81879" y="4174326"/>
            <a:ext cx="742326" cy="742326"/>
          </a:xfrm>
          <a:prstGeom prst="rect">
            <a:avLst/>
          </a:prstGeom>
        </p:spPr>
      </p:pic>
      <p:pic>
        <p:nvPicPr>
          <p:cNvPr id="28" name="Picture 27">
            <a:extLst>
              <a:ext uri="{FF2B5EF4-FFF2-40B4-BE49-F238E27FC236}">
                <a16:creationId xmlns:a16="http://schemas.microsoft.com/office/drawing/2014/main" id="{C4F0D594-4DC5-7DBE-AB07-AE486C738F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466208">
            <a:off x="3913973" y="2002250"/>
            <a:ext cx="865585" cy="865585"/>
          </a:xfrm>
          <a:prstGeom prst="rect">
            <a:avLst/>
          </a:prstGeom>
        </p:spPr>
      </p:pic>
      <p:pic>
        <p:nvPicPr>
          <p:cNvPr id="29" name="Picture 28">
            <a:extLst>
              <a:ext uri="{FF2B5EF4-FFF2-40B4-BE49-F238E27FC236}">
                <a16:creationId xmlns:a16="http://schemas.microsoft.com/office/drawing/2014/main" id="{B7505A5E-9B0E-79D2-6634-CFFF08F01C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895989">
            <a:off x="5727093" y="3426469"/>
            <a:ext cx="865585" cy="865585"/>
          </a:xfrm>
          <a:prstGeom prst="rect">
            <a:avLst/>
          </a:prstGeom>
        </p:spPr>
      </p:pic>
    </p:spTree>
    <p:extLst>
      <p:ext uri="{BB962C8B-B14F-4D97-AF65-F5344CB8AC3E}">
        <p14:creationId xmlns:p14="http://schemas.microsoft.com/office/powerpoint/2010/main" val="38836566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84092-306A-3738-1023-63D92A6F216A}"/>
            </a:ext>
          </a:extLst>
        </p:cNvPr>
        <p:cNvGrpSpPr/>
        <p:nvPr/>
      </p:nvGrpSpPr>
      <p:grpSpPr>
        <a:xfrm>
          <a:off x="0" y="0"/>
          <a:ext cx="0" cy="0"/>
          <a:chOff x="0" y="0"/>
          <a:chExt cx="0" cy="0"/>
        </a:xfrm>
      </p:grpSpPr>
      <p:sp>
        <p:nvSpPr>
          <p:cNvPr id="2" name="Scroll: Vertical 1">
            <a:extLst>
              <a:ext uri="{FF2B5EF4-FFF2-40B4-BE49-F238E27FC236}">
                <a16:creationId xmlns:a16="http://schemas.microsoft.com/office/drawing/2014/main" id="{1C471215-C9E9-AFC1-2C1A-3E4746EF0A78}"/>
              </a:ext>
            </a:extLst>
          </p:cNvPr>
          <p:cNvSpPr/>
          <p:nvPr/>
        </p:nvSpPr>
        <p:spPr>
          <a:xfrm>
            <a:off x="1802227" y="292321"/>
            <a:ext cx="4845063" cy="4430754"/>
          </a:xfrm>
          <a:prstGeom prst="verticalScroll">
            <a:avLst/>
          </a:prstGeom>
          <a:solidFill>
            <a:srgbClr val="F0C3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0">
                <a:latin typeface="Juice ITC" panose="04040403040A02020202" pitchFamily="82" charset="0"/>
              </a:rPr>
              <a:t>THANK YOU</a:t>
            </a:r>
            <a:endParaRPr lang="en-US" sz="11500" dirty="0">
              <a:latin typeface="Juice ITC" panose="04040403040A02020202" pitchFamily="82" charset="0"/>
            </a:endParaRPr>
          </a:p>
        </p:txBody>
      </p:sp>
    </p:spTree>
    <p:extLst>
      <p:ext uri="{BB962C8B-B14F-4D97-AF65-F5344CB8AC3E}">
        <p14:creationId xmlns:p14="http://schemas.microsoft.com/office/powerpoint/2010/main" val="16676302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Lawyer Marketing Social Media Strategy by Slidesgo">
  <a:themeElements>
    <a:clrScheme name="Simple Light">
      <a:dk1>
        <a:srgbClr val="034A9E"/>
      </a:dk1>
      <a:lt1>
        <a:srgbClr val="E9E2D6"/>
      </a:lt1>
      <a:dk2>
        <a:srgbClr val="94A2B1"/>
      </a:dk2>
      <a:lt2>
        <a:srgbClr val="52759E"/>
      </a:lt2>
      <a:accent1>
        <a:srgbClr val="2A5F9E"/>
      </a:accent1>
      <a:accent2>
        <a:srgbClr val="FFFFFF"/>
      </a:accent2>
      <a:accent3>
        <a:srgbClr val="FFFFFF"/>
      </a:accent3>
      <a:accent4>
        <a:srgbClr val="FFFFFF"/>
      </a:accent4>
      <a:accent5>
        <a:srgbClr val="FFFFFF"/>
      </a:accent5>
      <a:accent6>
        <a:srgbClr val="FFFFFF"/>
      </a:accent6>
      <a:hlink>
        <a:srgbClr val="52759E"/>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489</TotalTime>
  <Words>794</Words>
  <Application>Microsoft Office PowerPoint</Application>
  <PresentationFormat>On-screen Show (16:9)</PresentationFormat>
  <Paragraphs>145</Paragraphs>
  <Slides>21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Aptos</vt:lpstr>
      <vt:lpstr>Arial</vt:lpstr>
      <vt:lpstr>Arial Narrow</vt:lpstr>
      <vt:lpstr>Franklin Gothic Medium</vt:lpstr>
      <vt:lpstr>Juice ITC</vt:lpstr>
      <vt:lpstr>Montserrat</vt:lpstr>
      <vt:lpstr>Montserrat Medium</vt:lpstr>
      <vt:lpstr>OpenSymbol</vt:lpstr>
      <vt:lpstr>Symbol</vt:lpstr>
      <vt:lpstr>Wingdings</vt:lpstr>
      <vt:lpstr>Lawyer Marketing Social Media Strategy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Marvy Adel</cp:lastModifiedBy>
  <cp:revision>8</cp:revision>
  <dcterms:modified xsi:type="dcterms:W3CDTF">2026-06-23T11:43:26Z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2026-06-03T16:20:08Z</dcterms:created>
  <dc:creator>Unknown Creator</dc:creator>
  <dc:description/>
  <dc:language>en-US</dc:language>
  <cp:lastModifiedBy>Unknown Creator</cp:lastModifiedBy>
  <dcterms:modified xsi:type="dcterms:W3CDTF">2026-06-03T16:20:08Z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